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25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25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Relationship Id="rId12" Type="http://schemas.openxmlformats.org/officeDocument/2006/relationships/image" Target="../media/image51.png"/><Relationship Id="rId13" Type="http://schemas.openxmlformats.org/officeDocument/2006/relationships/image" Target="../media/image52.png"/><Relationship Id="rId14" Type="http://schemas.openxmlformats.org/officeDocument/2006/relationships/image" Target="../media/image53.png"/><Relationship Id="rId15" Type="http://schemas.openxmlformats.org/officeDocument/2006/relationships/image" Target="../media/image5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Relationship Id="rId9" Type="http://schemas.openxmlformats.org/officeDocument/2006/relationships/image" Target="../media/image8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Relationship Id="rId8" Type="http://schemas.openxmlformats.org/officeDocument/2006/relationships/image" Target="../media/image91.png"/><Relationship Id="rId9" Type="http://schemas.openxmlformats.org/officeDocument/2006/relationships/image" Target="../media/image92.png"/><Relationship Id="rId10" Type="http://schemas.openxmlformats.org/officeDocument/2006/relationships/image" Target="../media/image9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62800" y="38100"/>
            <a:ext cx="4857750" cy="4857750"/>
          </a:xfrm>
          <a:prstGeom prst="ellipse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6250" y="323850"/>
            <a:ext cx="10972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800">
                <a:solidFill>
                  <a:srgbClr val="FFFFFF"/>
                </a:solidFill>
                <a:latin typeface="Segoe UI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5337" y="323850"/>
            <a:ext cx="3086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800">
                <a:solidFill>
                  <a:srgbClr val="FFFFFF"/>
                </a:solidFill>
                <a:latin typeface="Segoe UI"/>
              </a:rPr>
              <a:t>- A.I. SUMMIT 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44075" y="323850"/>
            <a:ext cx="394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800">
                <a:solidFill>
                  <a:srgbClr val="FFFFFF"/>
                </a:solidFill>
                <a:latin typeface="Segoe UI"/>
              </a:rPr>
              <a:t>Email Analysis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4671119"/>
            <a:ext cx="22479000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3500"/>
              </a:lnSpc>
            </a:pPr>
            <a:r>
              <a:rPr sz="7200" b="1">
                <a:solidFill>
                  <a:srgbClr val="000000"/>
                </a:solidFill>
                <a:latin typeface="Segoe UI"/>
              </a:rPr>
              <a:t>EMAIL ANALYSIS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5867400"/>
            <a:ext cx="22479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2700">
                <a:solidFill>
                  <a:srgbClr val="000000"/>
                </a:solidFill>
                <a:latin typeface="Segoe UI"/>
              </a:rPr>
              <a:t>FastAPI Service for Enterprise Email Analysis Using RAG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95825" y="190500"/>
            <a:ext cx="38100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- PROJECT PRESENTATION 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0" y="190500"/>
            <a:ext cx="24765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Email Analysis API</a:t>
            </a:r>
          </a:p>
        </p:txBody>
      </p:sp>
      <p:pic>
        <p:nvPicPr>
          <p:cNvPr id="5" name="Picture 4" descr="temp_slide_0_el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631156"/>
            <a:ext cx="1524000" cy="152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097881"/>
            <a:ext cx="7105650" cy="1471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5250" b="1">
                <a:solidFill>
                  <a:srgbClr val="000000"/>
                </a:solidFill>
                <a:latin typeface="Segoe UI"/>
              </a:rPr>
              <a:t>Table of</a:t>
            </a:r>
          </a:p>
          <a:p>
            <a:pPr algn="l">
              <a:lnSpc>
                <a:spcPct val="90000"/>
              </a:lnSpc>
            </a:pPr>
            <a:r>
              <a:rPr sz="5250" b="1">
                <a:solidFill>
                  <a:srgbClr val="000000"/>
                </a:solidFill>
                <a:latin typeface="Segoe UI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9250" y="2202656"/>
            <a:ext cx="5715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650" b="1">
                <a:solidFill>
                  <a:srgbClr val="0048FF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7875" y="2202656"/>
            <a:ext cx="3314700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650">
                <a:solidFill>
                  <a:srgbClr val="000000"/>
                </a:solidFill>
                <a:latin typeface="Segoe UI"/>
              </a:rPr>
              <a:t>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29625" y="2202656"/>
            <a:ext cx="5715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650" b="1">
                <a:solidFill>
                  <a:srgbClr val="0048FF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0" y="2202656"/>
            <a:ext cx="23812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650">
                <a:solidFill>
                  <a:srgbClr val="000000"/>
                </a:solidFill>
                <a:latin typeface="Segoe UI"/>
              </a:rPr>
              <a:t>What This Project Solves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9250" y="3069431"/>
            <a:ext cx="5715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650" b="1">
                <a:solidFill>
                  <a:srgbClr val="0048FF"/>
                </a:solidFill>
                <a:latin typeface="Segoe U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7875" y="3069431"/>
            <a:ext cx="3352800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650">
                <a:solidFill>
                  <a:srgbClr val="000000"/>
                </a:solidFill>
                <a:latin typeface="Segoe UI"/>
              </a:rPr>
              <a:t>Project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9625" y="3069431"/>
            <a:ext cx="5715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650" b="1">
                <a:solidFill>
                  <a:srgbClr val="0048FF"/>
                </a:solidFill>
                <a:latin typeface="Segoe U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0" y="3069431"/>
            <a:ext cx="3657600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650">
                <a:solidFill>
                  <a:srgbClr val="000000"/>
                </a:solidFill>
                <a:latin typeface="Segoe UI"/>
              </a:rPr>
              <a:t>Code Walkthrough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9250" y="3726656"/>
            <a:ext cx="5715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650" b="1">
                <a:solidFill>
                  <a:srgbClr val="0048FF"/>
                </a:solidFill>
                <a:latin typeface="Segoe UI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7875" y="3726656"/>
            <a:ext cx="3676650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650">
                <a:solidFill>
                  <a:srgbClr val="000000"/>
                </a:solidFill>
                <a:latin typeface="Segoe UI"/>
              </a:rPr>
              <a:t>Technical Methods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9625" y="3726656"/>
            <a:ext cx="5715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650" b="1">
                <a:solidFill>
                  <a:srgbClr val="0048FF"/>
                </a:solidFill>
                <a:latin typeface="Segoe UI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0" y="3726656"/>
            <a:ext cx="4438650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650">
                <a:solidFill>
                  <a:srgbClr val="000000"/>
                </a:solidFill>
                <a:latin typeface="Segoe UI"/>
              </a:rPr>
              <a:t>Requirements &amp;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9250" y="4383881"/>
            <a:ext cx="5715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650" b="1">
                <a:solidFill>
                  <a:srgbClr val="0048FF"/>
                </a:solidFill>
                <a:latin typeface="Segoe UI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7875" y="4383881"/>
            <a:ext cx="2000250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650">
                <a:solidFill>
                  <a:srgbClr val="000000"/>
                </a:solidFill>
                <a:latin typeface="Segoe UI"/>
              </a:rPr>
              <a:t>API Usage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9625" y="4383881"/>
            <a:ext cx="5715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650" b="1">
                <a:solidFill>
                  <a:srgbClr val="0048FF"/>
                </a:solidFill>
                <a:latin typeface="Segoe UI"/>
              </a:rP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0" y="4383881"/>
            <a:ext cx="4476750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650">
                <a:solidFill>
                  <a:srgbClr val="000000"/>
                </a:solidFill>
                <a:latin typeface="Segoe UI"/>
              </a:rPr>
              <a:t>Quick End-to-End 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8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_slide_0_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62250"/>
            <a:ext cx="4095750" cy="5334000"/>
          </a:xfrm>
          <a:prstGeom prst="rect">
            <a:avLst/>
          </a:prstGeom>
        </p:spPr>
      </p:pic>
      <p:pic>
        <p:nvPicPr>
          <p:cNvPr id="3" name="Picture 2" descr="temp_slide_0_el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-762000"/>
            <a:ext cx="3619500" cy="4381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FFFFFF"/>
                </a:solidFill>
                <a:latin typeface="Segoe UI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53025" y="190500"/>
            <a:ext cx="19812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FFFFFF"/>
                </a:solidFill>
                <a:latin typeface="Segoe UI"/>
              </a:rPr>
              <a:t>- A.I. SUMMIT 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0" y="190500"/>
            <a:ext cx="24765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FFFFFF"/>
                </a:solidFill>
                <a:latin typeface="Segoe UI"/>
              </a:rPr>
              <a:t>Email Analysis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120304" y="2095053"/>
            <a:ext cx="14432458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3500"/>
              </a:lnSpc>
            </a:pPr>
            <a:r>
              <a:rPr sz="7200" b="1">
                <a:solidFill>
                  <a:srgbClr val="FFFFFF"/>
                </a:solidFill>
                <a:latin typeface="Segoe UI"/>
              </a:rPr>
              <a:t>Project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619750" y="3386583"/>
            <a:ext cx="9525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9750" y="3805683"/>
            <a:ext cx="857250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8125"/>
              </a:lnSpc>
            </a:pPr>
            <a:r>
              <a:rPr sz="2400">
                <a:solidFill>
                  <a:srgbClr val="FFFFFF"/>
                </a:solidFill>
                <a:latin typeface="Segoe UI"/>
              </a:rPr>
              <a:t>FastAPI service for enterprise email analysis using a Retrieval-Augmented Generation (RAG)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53025" y="190500"/>
            <a:ext cx="19812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- A.I. SUMMIT 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0" y="190500"/>
            <a:ext cx="24765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Email Analysis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700087"/>
            <a:ext cx="22479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3600" b="1">
                <a:solidFill>
                  <a:srgbClr val="000000"/>
                </a:solidFill>
                <a:latin typeface="Segoe UI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952500" y="4155281"/>
            <a:ext cx="10287000" cy="285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mp_slide_0_el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62" y="2669381"/>
            <a:ext cx="2047875" cy="20478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585912" y="3693318"/>
            <a:ext cx="28575" cy="12096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0075" y="5217318"/>
            <a:ext cx="4000500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650" b="1">
                <a:solidFill>
                  <a:srgbClr val="000000"/>
                </a:solidFill>
                <a:latin typeface="Segoe UI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75" y="5517356"/>
            <a:ext cx="200025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500"/>
              </a:lnSpc>
            </a:pPr>
            <a:r>
              <a:rPr sz="1200">
                <a:solidFill>
                  <a:srgbClr val="000000"/>
                </a:solidFill>
                <a:latin typeface="Segoe UI"/>
              </a:rPr>
              <a:t>Reads an input email from a text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7975" y="2425600"/>
            <a:ext cx="4000500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650" b="1">
                <a:solidFill>
                  <a:srgbClr val="000000"/>
                </a:solidFill>
                <a:latin typeface="Segoe UI"/>
              </a:rPr>
              <a:t>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7975" y="2725638"/>
            <a:ext cx="200025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500"/>
              </a:lnSpc>
            </a:pPr>
            <a:r>
              <a:rPr sz="1200">
                <a:solidFill>
                  <a:srgbClr val="000000"/>
                </a:solidFill>
                <a:latin typeface="Segoe UI"/>
              </a:rPr>
              <a:t>Retrieves relevant context from a local dataset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33812" y="3436143"/>
            <a:ext cx="28575" cy="12096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emp_slide_0_el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4162" y="3621881"/>
            <a:ext cx="2047875" cy="2047875"/>
          </a:xfrm>
          <a:prstGeom prst="rect">
            <a:avLst/>
          </a:prstGeom>
        </p:spPr>
      </p:pic>
      <p:pic>
        <p:nvPicPr>
          <p:cNvPr id="15" name="Picture 14" descr="temp_slide_0_el_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2" y="2669381"/>
            <a:ext cx="2047875" cy="204787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081712" y="3693318"/>
            <a:ext cx="28575" cy="12096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95875" y="5217318"/>
            <a:ext cx="4000500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650" b="1">
                <a:solidFill>
                  <a:srgbClr val="000000"/>
                </a:solidFill>
                <a:latin typeface="Segoe UI"/>
              </a:rPr>
              <a:t>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5875" y="5517356"/>
            <a:ext cx="200025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500"/>
              </a:lnSpc>
            </a:pPr>
            <a:r>
              <a:rPr sz="1200">
                <a:solidFill>
                  <a:srgbClr val="000000"/>
                </a:solidFill>
                <a:latin typeface="Segoe UI"/>
              </a:rPr>
              <a:t>Asks a local LLM (Ollama) to classify the email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3775" y="2425600"/>
            <a:ext cx="4000500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650" b="1">
                <a:solidFill>
                  <a:srgbClr val="000000"/>
                </a:solidFill>
                <a:latin typeface="Segoe UI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3775" y="2725638"/>
            <a:ext cx="200025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500"/>
              </a:lnSpc>
            </a:pPr>
            <a:r>
              <a:rPr sz="1200">
                <a:solidFill>
                  <a:srgbClr val="000000"/>
                </a:solidFill>
                <a:latin typeface="Segoe UI"/>
              </a:rPr>
              <a:t>Returns a strict JSON output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9612" y="3436143"/>
            <a:ext cx="28575" cy="12096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emp_slide_0_el_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9962" y="3621881"/>
            <a:ext cx="2047875" cy="2047875"/>
          </a:xfrm>
          <a:prstGeom prst="rect">
            <a:avLst/>
          </a:prstGeom>
        </p:spPr>
      </p:pic>
      <p:pic>
        <p:nvPicPr>
          <p:cNvPr id="23" name="Picture 22" descr="temp_slide_0_el_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7862" y="2669381"/>
            <a:ext cx="2047875" cy="2047875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0577512" y="3693318"/>
            <a:ext cx="28575" cy="12096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91675" y="5217318"/>
            <a:ext cx="4000500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650" b="1">
                <a:solidFill>
                  <a:srgbClr val="000000"/>
                </a:solidFill>
                <a:latin typeface="Segoe UI"/>
              </a:rPr>
              <a:t>Persistence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91675" y="5517356"/>
            <a:ext cx="200025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500"/>
              </a:lnSpc>
            </a:pPr>
            <a:r>
              <a:rPr sz="1200">
                <a:solidFill>
                  <a:srgbClr val="000000"/>
                </a:solidFill>
                <a:latin typeface="Segoe UI"/>
              </a:rPr>
              <a:t>Appends result data to the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53025" y="190500"/>
            <a:ext cx="19812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- A.I. SUMMIT 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500" y="190500"/>
            <a:ext cx="24765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Email Analysis API</a:t>
            </a:r>
          </a:p>
        </p:txBody>
      </p:sp>
      <p:pic>
        <p:nvPicPr>
          <p:cNvPr id="6" name="Picture 5" descr="temp_slide_0_el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95487"/>
            <a:ext cx="5143500" cy="325278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85775" y="2290762"/>
            <a:ext cx="4552950" cy="381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85775" y="2671762"/>
            <a:ext cx="4552950" cy="0"/>
          </a:xfrm>
          <a:prstGeom prst="line">
            <a:avLst/>
          </a:prstGeom>
          <a:ln w="9525">
            <a:solidFill>
              <a:srgbClr val="3641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38175" y="2419350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8675" y="2419350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9175" y="2419350"/>
            <a:ext cx="114300" cy="1143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62075" y="2400300"/>
            <a:ext cx="138261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333"/>
              </a:lnSpc>
            </a:pPr>
            <a:r>
              <a:rPr sz="900">
                <a:solidFill>
                  <a:srgbClr val="99A1AF"/>
                </a:solidFill>
                <a:latin typeface="ui-monospace"/>
              </a:rPr>
              <a:t>output.json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575" y="3024187"/>
            <a:ext cx="8861524" cy="15644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350">
                <a:solidFill>
                  <a:srgbClr val="D1D5DC"/>
                </a:solidFill>
                <a:latin typeface="ui-monospace"/>
              </a:rPr>
              <a:t>{ </a:t>
            </a:r>
            <a:r>
              <a:rPr sz="1350">
                <a:solidFill>
                  <a:srgbClr val="569CD6"/>
                </a:solidFill>
                <a:latin typeface="ui-monospace"/>
              </a:rPr>
              <a:t>"email_id"</a:t>
            </a:r>
            <a:r>
              <a:rPr sz="1350">
                <a:solidFill>
                  <a:srgbClr val="D1D5DC"/>
                </a:solidFill>
                <a:latin typeface="ui-monospace"/>
              </a:rPr>
              <a:t>: </a:t>
            </a:r>
            <a:r>
              <a:rPr sz="1350">
                <a:solidFill>
                  <a:srgbClr val="CE9178"/>
                </a:solidFill>
                <a:latin typeface="ui-monospace"/>
              </a:rPr>
              <a:t>"string"</a:t>
            </a:r>
            <a:r>
              <a:rPr sz="1350">
                <a:solidFill>
                  <a:srgbClr val="D1D5DC"/>
                </a:solidFill>
                <a:latin typeface="ui-monospace"/>
              </a:rPr>
              <a:t>, </a:t>
            </a:r>
            <a:r>
              <a:rPr sz="1350">
                <a:solidFill>
                  <a:srgbClr val="569CD6"/>
                </a:solidFill>
                <a:latin typeface="ui-monospace"/>
              </a:rPr>
              <a:t>"workflow_type"</a:t>
            </a:r>
            <a:r>
              <a:rPr sz="1350">
                <a:solidFill>
                  <a:srgbClr val="D1D5DC"/>
                </a:solidFill>
                <a:latin typeface="ui-monospace"/>
              </a:rPr>
              <a:t>: </a:t>
            </a:r>
            <a:r>
              <a:rPr sz="1350">
                <a:solidFill>
                  <a:srgbClr val="CE9178"/>
                </a:solidFill>
                <a:latin typeface="ui-monospace"/>
              </a:rPr>
              <a:t>"Réclamation|Demande|other"</a:t>
            </a:r>
            <a:r>
              <a:rPr sz="1350">
                <a:solidFill>
                  <a:srgbClr val="D1D5DC"/>
                </a:solidFill>
                <a:latin typeface="ui-monospace"/>
              </a:rPr>
              <a:t>, </a:t>
            </a:r>
            <a:r>
              <a:rPr sz="1350">
                <a:solidFill>
                  <a:srgbClr val="569CD6"/>
                </a:solidFill>
                <a:latin typeface="ui-monospace"/>
              </a:rPr>
              <a:t>"attributes"</a:t>
            </a:r>
            <a:r>
              <a:rPr sz="1350">
                <a:solidFill>
                  <a:srgbClr val="D1D5DC"/>
                </a:solidFill>
                <a:latin typeface="ui-monospace"/>
              </a:rPr>
              <a:t>: {}, </a:t>
            </a:r>
            <a:r>
              <a:rPr sz="1350">
                <a:solidFill>
                  <a:srgbClr val="569CD6"/>
                </a:solidFill>
                <a:latin typeface="ui-monospace"/>
              </a:rPr>
              <a:t>"confidence_score"</a:t>
            </a:r>
            <a:r>
              <a:rPr sz="1350">
                <a:solidFill>
                  <a:srgbClr val="D1D5DC"/>
                </a:solidFill>
                <a:latin typeface="ui-monospace"/>
              </a:rPr>
              <a:t>: </a:t>
            </a:r>
            <a:r>
              <a:rPr sz="1350">
                <a:solidFill>
                  <a:srgbClr val="B5CEA8"/>
                </a:solidFill>
                <a:latin typeface="ui-monospace"/>
              </a:rPr>
              <a:t>0.0</a:t>
            </a:r>
            <a:r>
              <a:rPr sz="1350">
                <a:solidFill>
                  <a:srgbClr val="D1D5DC"/>
                </a:solidFill>
                <a:latin typeface="ui-monospace"/>
              </a:rPr>
              <a:t> }</a:t>
            </a:r>
          </a:p>
        </p:txBody>
      </p:sp>
      <p:pic>
        <p:nvPicPr>
          <p:cNvPr id="14" name="Picture 13" descr="temp_slide_0_el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700" y="1697831"/>
            <a:ext cx="47625" cy="3848100"/>
          </a:xfrm>
          <a:prstGeom prst="rect">
            <a:avLst/>
          </a:prstGeom>
        </p:spPr>
      </p:pic>
      <p:pic>
        <p:nvPicPr>
          <p:cNvPr id="15" name="Picture 14" descr="temp_slide_0_el_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0" y="754856"/>
            <a:ext cx="1714500" cy="1714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00775" y="1421606"/>
            <a:ext cx="110299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3600" b="1">
                <a:solidFill>
                  <a:srgbClr val="000000"/>
                </a:solidFill>
                <a:latin typeface="Segoe UI"/>
              </a:rPr>
              <a:t>What This Project Solves</a:t>
            </a:r>
          </a:p>
        </p:txBody>
      </p:sp>
      <p:sp>
        <p:nvSpPr>
          <p:cNvPr id="17" name="Oval 16"/>
          <p:cNvSpPr/>
          <p:nvPr/>
        </p:nvSpPr>
        <p:spPr>
          <a:xfrm>
            <a:off x="6200775" y="2602706"/>
            <a:ext cx="76200" cy="76200"/>
          </a:xfrm>
          <a:prstGeom prst="ellipse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275" y="2469356"/>
            <a:ext cx="40576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800" b="1">
                <a:solidFill>
                  <a:srgbClr val="0048FF"/>
                </a:solidFill>
                <a:latin typeface="Segoe UI"/>
              </a:rPr>
              <a:t>Core Functionality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0775" y="2888456"/>
            <a:ext cx="5514975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350">
                <a:solidFill>
                  <a:srgbClr val="000000"/>
                </a:solidFill>
                <a:latin typeface="Segoe UI"/>
              </a:rPr>
              <a:t>Classifies professional emails into workflow categories and extracts structured attributes.</a:t>
            </a:r>
          </a:p>
        </p:txBody>
      </p:sp>
      <p:sp>
        <p:nvSpPr>
          <p:cNvPr id="20" name="Oval 19"/>
          <p:cNvSpPr/>
          <p:nvPr/>
        </p:nvSpPr>
        <p:spPr>
          <a:xfrm>
            <a:off x="6200775" y="3921918"/>
            <a:ext cx="76200" cy="76200"/>
          </a:xfrm>
          <a:prstGeom prst="ellipse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275" y="3788568"/>
            <a:ext cx="5086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800" b="1">
                <a:solidFill>
                  <a:srgbClr val="0048FF"/>
                </a:solidFill>
                <a:latin typeface="Segoe UI"/>
              </a:rPr>
              <a:t>Main Workflow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0775" y="4207668"/>
            <a:ext cx="551497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350">
                <a:solidFill>
                  <a:srgbClr val="000000"/>
                </a:solidFill>
                <a:latin typeface="Segoe UI"/>
              </a:rPr>
              <a:t>Uses </a:t>
            </a:r>
            <a:r>
              <a:rPr sz="1200" b="1">
                <a:solidFill>
                  <a:srgbClr val="0048FF"/>
                </a:solidFill>
                <a:latin typeface="ui-monospace"/>
              </a:rPr>
              <a:t>prompt_orange</a:t>
            </a:r>
            <a:r>
              <a:rPr sz="1350">
                <a:solidFill>
                  <a:srgbClr val="000000"/>
                </a:solidFill>
                <a:latin typeface="Segoe UI"/>
              </a:rPr>
              <a:t> to analyze emails.</a:t>
            </a:r>
          </a:p>
        </p:txBody>
      </p:sp>
      <p:sp>
        <p:nvSpPr>
          <p:cNvPr id="23" name="Oval 22"/>
          <p:cNvSpPr/>
          <p:nvPr/>
        </p:nvSpPr>
        <p:spPr>
          <a:xfrm>
            <a:off x="6200775" y="4979193"/>
            <a:ext cx="76200" cy="76200"/>
          </a:xfrm>
          <a:prstGeom prst="ellipse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1275" y="4845843"/>
            <a:ext cx="3829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800" b="1">
                <a:solidFill>
                  <a:srgbClr val="0048FF"/>
                </a:solidFill>
                <a:latin typeface="Segoe UI"/>
              </a:rPr>
              <a:t>Output 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0775" y="5264943"/>
            <a:ext cx="5514975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350">
                <a:solidFill>
                  <a:srgbClr val="000000"/>
                </a:solidFill>
                <a:latin typeface="Segoe UI"/>
              </a:rPr>
              <a:t>Returns a JSON object with: </a:t>
            </a:r>
            <a:r>
              <a:rPr sz="1050" b="1">
                <a:solidFill>
                  <a:srgbClr val="000000"/>
                </a:solidFill>
                <a:latin typeface="ui-monospace"/>
              </a:rPr>
              <a:t>email_id</a:t>
            </a:r>
            <a:r>
              <a:rPr sz="1350">
                <a:solidFill>
                  <a:srgbClr val="000000"/>
                </a:solidFill>
                <a:latin typeface="Segoe UI"/>
              </a:rPr>
              <a:t>, </a:t>
            </a:r>
            <a:r>
              <a:rPr sz="1050" b="1">
                <a:solidFill>
                  <a:srgbClr val="000000"/>
                </a:solidFill>
                <a:latin typeface="ui-monospace"/>
              </a:rPr>
              <a:t>workflow_type</a:t>
            </a:r>
            <a:r>
              <a:rPr sz="1350">
                <a:solidFill>
                  <a:srgbClr val="000000"/>
                </a:solidFill>
                <a:latin typeface="Segoe UI"/>
              </a:rPr>
              <a:t> (Réclamation|Demande|other), </a:t>
            </a:r>
            <a:r>
              <a:rPr sz="1050" b="1">
                <a:solidFill>
                  <a:srgbClr val="000000"/>
                </a:solidFill>
                <a:latin typeface="ui-monospace"/>
              </a:rPr>
              <a:t>attributes</a:t>
            </a:r>
            <a:r>
              <a:rPr sz="1350">
                <a:solidFill>
                  <a:srgbClr val="000000"/>
                </a:solidFill>
                <a:latin typeface="Segoe UI"/>
              </a:rPr>
              <a:t>, and </a:t>
            </a:r>
            <a:r>
              <a:rPr sz="1050" b="1">
                <a:solidFill>
                  <a:srgbClr val="000000"/>
                </a:solidFill>
                <a:latin typeface="ui-monospace"/>
              </a:rPr>
              <a:t>confidence_score</a:t>
            </a:r>
            <a:r>
              <a:rPr sz="1350">
                <a:solidFill>
                  <a:srgbClr val="000000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6250" y="190500"/>
            <a:ext cx="24765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Email Analysis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00700" y="190500"/>
            <a:ext cx="19812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- A.I. SUMMIT 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0" y="190500"/>
            <a:ext cx="24765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Email Analysis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890587"/>
            <a:ext cx="4762500" cy="1760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3500"/>
              </a:lnSpc>
            </a:pPr>
            <a:r>
              <a:rPr sz="4200" b="1">
                <a:solidFill>
                  <a:srgbClr val="000000"/>
                </a:solidFill>
                <a:latin typeface="Segoe UI"/>
              </a:rPr>
              <a:t>Workflow Classification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6250" y="3126878"/>
            <a:ext cx="4762500" cy="6762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76250" y="3126878"/>
            <a:ext cx="0" cy="676275"/>
          </a:xfrm>
          <a:prstGeom prst="line">
            <a:avLst/>
          </a:prstGeom>
          <a:ln w="38100">
            <a:solidFill>
              <a:srgbClr val="004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2950" y="3145928"/>
            <a:ext cx="8991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800" b="1">
                <a:solidFill>
                  <a:srgbClr val="000000"/>
                </a:solidFill>
                <a:latin typeface="Segoe UI"/>
              </a:rPr>
              <a:t>email_id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3526928"/>
            <a:ext cx="89916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350">
                <a:solidFill>
                  <a:srgbClr val="4A5565"/>
                </a:solidFill>
                <a:latin typeface="Segoe UI"/>
              </a:rPr>
              <a:t>Unique identifier string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6250" y="4069853"/>
            <a:ext cx="4762500" cy="6762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76250" y="4069853"/>
            <a:ext cx="0" cy="676275"/>
          </a:xfrm>
          <a:prstGeom prst="line">
            <a:avLst/>
          </a:prstGeom>
          <a:ln w="381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2950" y="4088903"/>
            <a:ext cx="8991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800" b="1">
                <a:solidFill>
                  <a:srgbClr val="000000"/>
                </a:solidFill>
                <a:latin typeface="Segoe UI"/>
              </a:rPr>
              <a:t>workflow_type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4469903"/>
            <a:ext cx="89916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350">
                <a:solidFill>
                  <a:srgbClr val="4A5565"/>
                </a:solidFill>
                <a:latin typeface="Segoe UI"/>
              </a:rPr>
              <a:t>Values: Réclamation | Demande | other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6250" y="5012828"/>
            <a:ext cx="4762500" cy="6762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76250" y="5012828"/>
            <a:ext cx="0" cy="676275"/>
          </a:xfrm>
          <a:prstGeom prst="line">
            <a:avLst/>
          </a:prstGeom>
          <a:ln w="381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2950" y="5031878"/>
            <a:ext cx="8991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800" b="1">
                <a:solidFill>
                  <a:srgbClr val="000000"/>
                </a:solidFill>
                <a:latin typeface="Segoe UI"/>
              </a:rPr>
              <a:t>attributes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5412878"/>
            <a:ext cx="89916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350">
                <a:solidFill>
                  <a:srgbClr val="4A5565"/>
                </a:solidFill>
                <a:latin typeface="Segoe UI"/>
              </a:rPr>
              <a:t>Extracted structured data object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6250" y="5955803"/>
            <a:ext cx="4762500" cy="6762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476250" y="5955803"/>
            <a:ext cx="0" cy="676275"/>
          </a:xfrm>
          <a:prstGeom prst="line">
            <a:avLst/>
          </a:prstGeom>
          <a:ln w="381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42950" y="5974853"/>
            <a:ext cx="8991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800" b="1">
                <a:solidFill>
                  <a:srgbClr val="000000"/>
                </a:solidFill>
                <a:latin typeface="Segoe UI"/>
              </a:rPr>
              <a:t>confidence_score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6355853"/>
            <a:ext cx="89916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350">
                <a:solidFill>
                  <a:srgbClr val="4A5565"/>
                </a:solidFill>
                <a:latin typeface="Segoe UI"/>
              </a:rPr>
              <a:t>Classification probability score</a:t>
            </a:r>
          </a:p>
        </p:txBody>
      </p:sp>
      <p:pic>
        <p:nvPicPr>
          <p:cNvPr id="22" name="Picture 21" descr="temp_slide_0_el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225" y="721705"/>
            <a:ext cx="6962775" cy="6079255"/>
          </a:xfrm>
          <a:prstGeom prst="rect">
            <a:avLst/>
          </a:prstGeom>
        </p:spPr>
      </p:pic>
      <p:pic>
        <p:nvPicPr>
          <p:cNvPr id="23" name="Picture 22" descr="temp_slide_0_el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0" y="1960512"/>
            <a:ext cx="6286500" cy="360164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915025" y="2255787"/>
            <a:ext cx="5695950" cy="390525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5915025" y="2646312"/>
            <a:ext cx="5695950" cy="0"/>
          </a:xfrm>
          <a:prstGeom prst="line">
            <a:avLst/>
          </a:prstGeom>
          <a:ln w="9525">
            <a:solidFill>
              <a:srgbClr val="3641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067425" y="2389137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57925" y="2389137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8425" y="2389137"/>
            <a:ext cx="114300" cy="1143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1325" y="2370087"/>
            <a:ext cx="138261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333"/>
              </a:lnSpc>
            </a:pPr>
            <a:r>
              <a:rPr sz="900">
                <a:solidFill>
                  <a:srgbClr val="99A1AF"/>
                </a:solidFill>
                <a:latin typeface="ui-monospace"/>
              </a:rPr>
              <a:t>output.json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9825" y="3008262"/>
            <a:ext cx="25146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>
                <a:solidFill>
                  <a:srgbClr val="FFD700"/>
                </a:solidFill>
                <a:latin typeface="ui-monospace"/>
              </a:rPr>
              <a:t>{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0359" y="3343423"/>
            <a:ext cx="2304454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>
                <a:solidFill>
                  <a:srgbClr val="9CDCFE"/>
                </a:solidFill>
                <a:latin typeface="ui-monospace"/>
              </a:rPr>
              <a:t>"email_id"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2587" y="3343423"/>
            <a:ext cx="25146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>
                <a:solidFill>
                  <a:srgbClr val="D4D4D4"/>
                </a:solidFill>
                <a:latin typeface="ui-monospace"/>
              </a:rPr>
              <a:t>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33270" y="3343423"/>
            <a:ext cx="1843384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>
                <a:solidFill>
                  <a:srgbClr val="CE9178"/>
                </a:solidFill>
                <a:latin typeface="ui-monospace"/>
              </a:rPr>
              <a:t>"string"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4963" y="3343423"/>
            <a:ext cx="25146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>
                <a:solidFill>
                  <a:srgbClr val="D4D4D4"/>
                </a:solidFill>
                <a:latin typeface="ui-monospace"/>
              </a:rPr>
              <a:t>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0359" y="3678584"/>
            <a:ext cx="3456384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>
                <a:solidFill>
                  <a:srgbClr val="9CDCFE"/>
                </a:solidFill>
                <a:latin typeface="ui-monospace"/>
              </a:rPr>
              <a:t>"workflow_type"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8551" y="3678584"/>
            <a:ext cx="25146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>
                <a:solidFill>
                  <a:srgbClr val="D4D4D4"/>
                </a:solidFill>
                <a:latin typeface="ui-monospace"/>
              </a:rPr>
              <a:t>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9235" y="3678584"/>
            <a:ext cx="622161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>
                <a:solidFill>
                  <a:srgbClr val="CE9178"/>
                </a:solidFill>
                <a:latin typeface="ui-monospace"/>
              </a:rPr>
              <a:t>"Réclamation|Demande|other"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20041" y="3678584"/>
            <a:ext cx="25146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>
                <a:solidFill>
                  <a:srgbClr val="D4D4D4"/>
                </a:solidFill>
                <a:latin typeface="ui-monospace"/>
              </a:rPr>
              <a:t>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0359" y="4013745"/>
            <a:ext cx="2765226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>
                <a:solidFill>
                  <a:srgbClr val="9CDCFE"/>
                </a:solidFill>
                <a:latin typeface="ui-monospace"/>
              </a:rPr>
              <a:t>"attributes"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32973" y="4013745"/>
            <a:ext cx="25146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>
                <a:solidFill>
                  <a:srgbClr val="D4D4D4"/>
                </a:solidFill>
                <a:latin typeface="ui-monospace"/>
              </a:rPr>
              <a:t>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3656" y="4013745"/>
            <a:ext cx="50292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>
                <a:solidFill>
                  <a:srgbClr val="FFD700"/>
                </a:solidFill>
                <a:latin typeface="ui-monospace"/>
              </a:rPr>
              <a:t>{}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4191" y="4013745"/>
            <a:ext cx="25146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>
                <a:solidFill>
                  <a:srgbClr val="D4D4D4"/>
                </a:solidFill>
                <a:latin typeface="ui-monospace"/>
              </a:rPr>
              <a:t>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0359" y="4348906"/>
            <a:ext cx="4147838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>
                <a:solidFill>
                  <a:srgbClr val="9CDCFE"/>
                </a:solidFill>
                <a:latin typeface="ui-monospace"/>
              </a:rPr>
              <a:t>"confidence_score"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24279" y="4348906"/>
            <a:ext cx="25146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>
                <a:solidFill>
                  <a:srgbClr val="D4D4D4"/>
                </a:solidFill>
                <a:latin typeface="ui-monospace"/>
              </a:rPr>
              <a:t>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54963" y="4348906"/>
            <a:ext cx="75438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>
                <a:solidFill>
                  <a:srgbClr val="B5CEA8"/>
                </a:solidFill>
                <a:latin typeface="ui-monospace"/>
              </a:rPr>
              <a:t>0.0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9825" y="4684067"/>
            <a:ext cx="25146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>
                <a:solidFill>
                  <a:srgbClr val="FFD700"/>
                </a:solidFill>
                <a:latin typeface="ui-monospace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43475" y="190500"/>
            <a:ext cx="28194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- Email Analysis API 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0" y="190500"/>
            <a:ext cx="24765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Email Analysis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700087"/>
            <a:ext cx="22479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3600" b="1">
                <a:solidFill>
                  <a:srgbClr val="000000"/>
                </a:solidFill>
                <a:latin typeface="Segoe UI"/>
              </a:rPr>
              <a:t>Project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1609725" y="2331243"/>
            <a:ext cx="43053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250"/>
              </a:lnSpc>
            </a:pPr>
            <a:r>
              <a:rPr sz="1800" b="1">
                <a:solidFill>
                  <a:srgbClr val="000000"/>
                </a:solidFill>
                <a:latin typeface="Segoe UI"/>
              </a:rPr>
              <a:t>api.py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609725" y="2616993"/>
            <a:ext cx="43053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7500"/>
              </a:lnSpc>
            </a:pPr>
            <a:r>
              <a:rPr sz="1200">
                <a:solidFill>
                  <a:srgbClr val="000000"/>
                </a:solidFill>
                <a:latin typeface="Segoe UI"/>
              </a:rPr>
              <a:t>FastAPI app, RAG initialization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6075" y="2574131"/>
            <a:ext cx="1143000" cy="285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67025" y="2555081"/>
            <a:ext cx="66675" cy="66675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81450" y="2555081"/>
            <a:ext cx="66675" cy="66675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-1743075" y="3798093"/>
            <a:ext cx="4438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250"/>
              </a:lnSpc>
            </a:pPr>
            <a:r>
              <a:rPr sz="1800" b="1">
                <a:solidFill>
                  <a:srgbClr val="000000"/>
                </a:solidFill>
                <a:latin typeface="Segoe UI"/>
              </a:rPr>
              <a:t>api_methodes.py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50" y="4083843"/>
            <a:ext cx="22193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7500"/>
              </a:lnSpc>
            </a:pPr>
            <a:r>
              <a:rPr sz="1200">
                <a:solidFill>
                  <a:srgbClr val="000000"/>
                </a:solidFill>
                <a:latin typeface="Segoe UI"/>
              </a:rPr>
              <a:t>Utility methods: load, chunk, save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6075" y="4155281"/>
            <a:ext cx="762000" cy="285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67025" y="4136231"/>
            <a:ext cx="66675" cy="66675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0450" y="4136231"/>
            <a:ext cx="66675" cy="66675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-1571625" y="5493543"/>
            <a:ext cx="4267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250"/>
              </a:lnSpc>
            </a:pPr>
            <a:r>
              <a:rPr sz="1800" b="1">
                <a:solidFill>
                  <a:srgbClr val="000000"/>
                </a:solidFill>
                <a:latin typeface="Segoe UI"/>
              </a:rPr>
              <a:t>prompt.py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1571625" y="5779293"/>
            <a:ext cx="426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7500"/>
              </a:lnSpc>
            </a:pPr>
            <a:r>
              <a:rPr sz="1200">
                <a:solidFill>
                  <a:srgbClr val="000000"/>
                </a:solidFill>
                <a:latin typeface="Segoe UI"/>
              </a:rPr>
              <a:t>Prompt templates &amp; schemas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6075" y="5736431"/>
            <a:ext cx="1143000" cy="285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67025" y="5717381"/>
            <a:ext cx="66675" cy="66675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81450" y="5717381"/>
            <a:ext cx="66675" cy="66675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emp_slide_0_el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575" y="1740693"/>
            <a:ext cx="3619500" cy="1125438"/>
          </a:xfrm>
          <a:prstGeom prst="rect">
            <a:avLst/>
          </a:prstGeom>
        </p:spPr>
      </p:pic>
      <p:pic>
        <p:nvPicPr>
          <p:cNvPr id="22" name="Picture 21" descr="temp_slide_0_el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325" y="2199382"/>
            <a:ext cx="4572000" cy="1253281"/>
          </a:xfrm>
          <a:prstGeom prst="rect">
            <a:avLst/>
          </a:prstGeom>
        </p:spPr>
      </p:pic>
      <p:pic>
        <p:nvPicPr>
          <p:cNvPr id="23" name="Picture 22" descr="temp_slide_0_el_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7575" y="2785913"/>
            <a:ext cx="5143500" cy="1338560"/>
          </a:xfrm>
          <a:prstGeom prst="rect">
            <a:avLst/>
          </a:prstGeom>
        </p:spPr>
      </p:pic>
      <p:pic>
        <p:nvPicPr>
          <p:cNvPr id="24" name="Picture 23" descr="temp_slide_0_el_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2325" y="3457723"/>
            <a:ext cx="5334000" cy="1423689"/>
          </a:xfrm>
          <a:prstGeom prst="rect">
            <a:avLst/>
          </a:prstGeom>
        </p:spPr>
      </p:pic>
      <p:pic>
        <p:nvPicPr>
          <p:cNvPr id="25" name="Picture 24" descr="temp_slide_0_el_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7575" y="4214663"/>
            <a:ext cx="5143500" cy="1338560"/>
          </a:xfrm>
          <a:prstGeom prst="rect">
            <a:avLst/>
          </a:prstGeom>
        </p:spPr>
      </p:pic>
      <p:pic>
        <p:nvPicPr>
          <p:cNvPr id="26" name="Picture 25" descr="temp_slide_0_el_2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3325" y="4886473"/>
            <a:ext cx="4572000" cy="1253281"/>
          </a:xfrm>
          <a:prstGeom prst="rect">
            <a:avLst/>
          </a:prstGeom>
        </p:spPr>
      </p:pic>
      <p:pic>
        <p:nvPicPr>
          <p:cNvPr id="27" name="Picture 26" descr="temp_slide_0_el_2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9575" y="5473005"/>
            <a:ext cx="3619500" cy="1125438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8029575" y="3040856"/>
            <a:ext cx="1143000" cy="285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0525" y="3021806"/>
            <a:ext cx="66675" cy="66675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24950" y="3021806"/>
            <a:ext cx="66675" cy="66675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63075" y="2797968"/>
            <a:ext cx="47053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800" b="1">
                <a:solidFill>
                  <a:srgbClr val="000000"/>
                </a:solidFill>
                <a:latin typeface="Segoe UI"/>
              </a:rPr>
              <a:t>dataset_telecom.json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63075" y="3083718"/>
            <a:ext cx="47053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200">
                <a:solidFill>
                  <a:srgbClr val="000000"/>
                </a:solidFill>
                <a:latin typeface="Segoe UI"/>
              </a:rPr>
              <a:t>Source corpus &amp; output storage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0575" y="5269706"/>
            <a:ext cx="762000" cy="285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91525" y="5250656"/>
            <a:ext cx="66675" cy="66675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24950" y="5250656"/>
            <a:ext cx="66675" cy="66675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63075" y="5026818"/>
            <a:ext cx="33718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800" b="1">
                <a:solidFill>
                  <a:srgbClr val="000000"/>
                </a:solidFill>
                <a:latin typeface="Segoe UI"/>
              </a:rPr>
              <a:t>emails_output/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63075" y="5312568"/>
            <a:ext cx="3371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200">
                <a:solidFill>
                  <a:srgbClr val="000000"/>
                </a:solidFill>
                <a:latin typeface="Segoe UI"/>
              </a:rPr>
              <a:t>Example email files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53025" y="190500"/>
            <a:ext cx="19812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- A.I. SUMMIT 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0" y="190500"/>
            <a:ext cx="24765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Email Analysis API</a:t>
            </a:r>
          </a:p>
        </p:txBody>
      </p:sp>
      <p:pic>
        <p:nvPicPr>
          <p:cNvPr id="5" name="Picture 4" descr="temp_slide_0_el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2132171"/>
            <a:ext cx="1524000" cy="152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3850" y="2703671"/>
            <a:ext cx="113157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000000"/>
                </a:solidFill>
                <a:latin typeface="Segoe UI"/>
              </a:rPr>
              <a:t>File</a:t>
            </a:r>
          </a:p>
          <a:p>
            <a:pPr algn="l">
              <a:lnSpc>
                <a:spcPct val="90000"/>
              </a:lnSpc>
            </a:pPr>
            <a:r>
              <a:rPr sz="6000" b="1">
                <a:solidFill>
                  <a:srgbClr val="000000"/>
                </a:solidFill>
                <a:latin typeface="Segoe UI"/>
              </a:rPr>
              <a:t>Organization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19750" y="1997868"/>
            <a:ext cx="34290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650" b="1">
                <a:solidFill>
                  <a:srgbClr val="0048FF"/>
                </a:solidFill>
                <a:latin typeface="Segoe UI"/>
              </a:rPr>
              <a:t>api.py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4750" y="1997868"/>
            <a:ext cx="3524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>
                <a:solidFill>
                  <a:srgbClr val="000000"/>
                </a:solidFill>
                <a:latin typeface="Segoe UI"/>
              </a:rPr>
              <a:t>FastAPI app, RAG initialization, query endpoint, health/status endpoints.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19750" y="2702718"/>
            <a:ext cx="34290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650" b="1">
                <a:solidFill>
                  <a:srgbClr val="0048FF"/>
                </a:solidFill>
                <a:latin typeface="Segoe UI"/>
              </a:rPr>
              <a:t>api_methodes.py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0" y="2702718"/>
            <a:ext cx="3524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>
                <a:solidFill>
                  <a:srgbClr val="000000"/>
                </a:solidFill>
                <a:latin typeface="Segoe UI"/>
              </a:rPr>
              <a:t>utility methods for loading data, chunking text, and saving outputs.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19750" y="3407568"/>
            <a:ext cx="34290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650" b="1">
                <a:solidFill>
                  <a:srgbClr val="0048FF"/>
                </a:solidFill>
                <a:latin typeface="Segoe UI"/>
              </a:rPr>
              <a:t>prompt.py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4750" y="3407568"/>
            <a:ext cx="35242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>
                <a:solidFill>
                  <a:srgbClr val="000000"/>
                </a:solidFill>
                <a:latin typeface="Segoe UI"/>
              </a:rPr>
              <a:t>prompt templates (prompt_1, prompt_2, murged_prompt, prompt_orange).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4421981"/>
            <a:ext cx="34290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650" b="1">
                <a:solidFill>
                  <a:srgbClr val="0048FF"/>
                </a:solidFill>
                <a:latin typeface="Segoe UI"/>
              </a:rPr>
              <a:t>dataset_telecom.json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0" y="4350543"/>
            <a:ext cx="3524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>
                <a:solidFill>
                  <a:srgbClr val="000000"/>
                </a:solidFill>
                <a:latin typeface="Segoe UI"/>
              </a:rPr>
              <a:t>source corpus and (currently) output storage file.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19750" y="5055393"/>
            <a:ext cx="34290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650" b="1">
                <a:solidFill>
                  <a:srgbClr val="0048FF"/>
                </a:solidFill>
                <a:latin typeface="Segoe UI"/>
              </a:rPr>
              <a:t>emails_output/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4750" y="5055393"/>
            <a:ext cx="689610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>
                <a:solidFill>
                  <a:srgbClr val="000000"/>
                </a:solidFill>
                <a:latin typeface="Segoe UI"/>
              </a:rPr>
              <a:t>example email files used as API inputs.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53025" y="190500"/>
            <a:ext cx="19812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- A.I. SUMMIT 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0" y="190500"/>
            <a:ext cx="24765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Email Analysis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1333500" y="1254918"/>
            <a:ext cx="2762250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-396830" y="4412456"/>
            <a:ext cx="5715000" cy="609600"/>
          </a:xfrm>
          <a:prstGeom prst="rect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19250" y="1445418"/>
            <a:ext cx="2762250" cy="457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47850" y="1674018"/>
            <a:ext cx="114300" cy="114300"/>
          </a:xfrm>
          <a:prstGeom prst="ellipse">
            <a:avLst/>
          </a:prstGeom>
          <a:solidFill>
            <a:srgbClr val="FB2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38350" y="1674018"/>
            <a:ext cx="114300" cy="114300"/>
          </a:xfrm>
          <a:prstGeom prst="ellipse">
            <a:avLst/>
          </a:prstGeom>
          <a:solidFill>
            <a:srgbClr val="F0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28850" y="1674018"/>
            <a:ext cx="114300" cy="114300"/>
          </a:xfrm>
          <a:prstGeom prst="ellipse">
            <a:avLst/>
          </a:prstGeom>
          <a:solidFill>
            <a:srgbClr val="00C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47850" y="1940718"/>
            <a:ext cx="4610100" cy="3848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975">
                <a:solidFill>
                  <a:srgbClr val="0048FF"/>
                </a:solidFill>
                <a:latin typeface="ui-monospace"/>
              </a:rPr>
              <a:t>import</a:t>
            </a:r>
            <a:r>
              <a:rPr sz="975">
                <a:solidFill>
                  <a:srgbClr val="D1D5DC"/>
                </a:solidFill>
                <a:latin typeface="ui-monospace"/>
              </a:rPr>
              <a:t> fastapi</a:t>
            </a:r>
          </a:p>
          <a:p>
            <a:pPr algn="l">
              <a:lnSpc>
                <a:spcPct val="138125"/>
              </a:lnSpc>
            </a:pPr>
            <a:r>
              <a:rPr sz="975">
                <a:solidFill>
                  <a:srgbClr val="D1D5DC"/>
                </a:solidFill>
                <a:latin typeface="ui-monospace"/>
              </a:rPr>
              <a:t> </a:t>
            </a:r>
            <a:r>
              <a:rPr sz="975">
                <a:solidFill>
                  <a:srgbClr val="0048FF"/>
                </a:solidFill>
                <a:latin typeface="ui-monospace"/>
              </a:rPr>
              <a:t>from</a:t>
            </a:r>
            <a:r>
              <a:rPr sz="975">
                <a:solidFill>
                  <a:srgbClr val="D1D5DC"/>
                </a:solidFill>
                <a:latin typeface="ui-monospace"/>
              </a:rPr>
              <a:t> pydantic </a:t>
            </a:r>
            <a:r>
              <a:rPr sz="975">
                <a:solidFill>
                  <a:srgbClr val="0048FF"/>
                </a:solidFill>
                <a:latin typeface="ui-monospace"/>
              </a:rPr>
              <a:t>import</a:t>
            </a:r>
            <a:r>
              <a:rPr sz="975">
                <a:solidFill>
                  <a:srgbClr val="D1D5DC"/>
                </a:solidFill>
                <a:latin typeface="ui-monospace"/>
              </a:rPr>
              <a:t> BaseModel</a:t>
            </a:r>
          </a:p>
          <a:p>
            <a:pPr algn="l">
              <a:lnSpc>
                <a:spcPct val="138125"/>
              </a:lnSpc>
            </a:pPr>
            <a:r>
              <a:rPr sz="975">
                <a:solidFill>
                  <a:srgbClr val="D1D5DC"/>
                </a:solidFill>
                <a:latin typeface="ui-monospace"/>
              </a:rPr>
              <a:t> </a:t>
            </a:r>
          </a:p>
          <a:p>
            <a:pPr algn="l">
              <a:lnSpc>
                <a:spcPct val="138125"/>
              </a:lnSpc>
            </a:pPr>
            <a:r>
              <a:rPr sz="975">
                <a:solidFill>
                  <a:srgbClr val="D1D5DC"/>
                </a:solidFill>
                <a:latin typeface="ui-monospace"/>
              </a:rPr>
              <a:t> </a:t>
            </a:r>
            <a:r>
              <a:rPr sz="975">
                <a:solidFill>
                  <a:srgbClr val="6A7282"/>
                </a:solidFill>
                <a:latin typeface="ui-monospace"/>
              </a:rPr>
              <a:t># Initialize App</a:t>
            </a:r>
          </a:p>
          <a:p>
            <a:pPr algn="l">
              <a:lnSpc>
                <a:spcPct val="138125"/>
              </a:lnSpc>
            </a:pPr>
            <a:r>
              <a:rPr sz="975">
                <a:solidFill>
                  <a:srgbClr val="D1D5DC"/>
                </a:solidFill>
                <a:latin typeface="ui-monospace"/>
              </a:rPr>
              <a:t> app = FastAPI()</a:t>
            </a:r>
          </a:p>
          <a:p>
            <a:pPr algn="l">
              <a:lnSpc>
                <a:spcPct val="138125"/>
              </a:lnSpc>
            </a:pPr>
            <a:r>
              <a:rPr sz="975">
                <a:solidFill>
                  <a:srgbClr val="D1D5DC"/>
                </a:solidFill>
                <a:latin typeface="ui-monospace"/>
              </a:rPr>
              <a:t> </a:t>
            </a:r>
          </a:p>
          <a:p>
            <a:pPr algn="l">
              <a:lnSpc>
                <a:spcPct val="138125"/>
              </a:lnSpc>
            </a:pPr>
            <a:r>
              <a:rPr sz="975">
                <a:solidFill>
                  <a:srgbClr val="D1D5DC"/>
                </a:solidFill>
                <a:latin typeface="ui-monospace"/>
              </a:rPr>
              <a:t> </a:t>
            </a:r>
            <a:r>
              <a:rPr sz="975">
                <a:solidFill>
                  <a:srgbClr val="0048FF"/>
                </a:solidFill>
                <a:latin typeface="ui-monospace"/>
              </a:rPr>
              <a:t>class</a:t>
            </a:r>
            <a:r>
              <a:rPr sz="975">
                <a:solidFill>
                  <a:srgbClr val="D1D5DC"/>
                </a:solidFill>
                <a:latin typeface="ui-monospace"/>
              </a:rPr>
              <a:t> </a:t>
            </a:r>
            <a:r>
              <a:rPr sz="975">
                <a:solidFill>
                  <a:srgbClr val="FDC700"/>
                </a:solidFill>
                <a:latin typeface="ui-monospace"/>
              </a:rPr>
              <a:t>Query</a:t>
            </a:r>
            <a:r>
              <a:rPr sz="975">
                <a:solidFill>
                  <a:srgbClr val="D1D5DC"/>
                </a:solidFill>
                <a:latin typeface="ui-monospace"/>
              </a:rPr>
              <a:t>(BaseModel):</a:t>
            </a:r>
          </a:p>
          <a:p>
            <a:pPr algn="l">
              <a:lnSpc>
                <a:spcPct val="138125"/>
              </a:lnSpc>
            </a:pPr>
            <a:r>
              <a:rPr sz="975">
                <a:solidFill>
                  <a:srgbClr val="D1D5DC"/>
                </a:solidFill>
                <a:latin typeface="ui-monospace"/>
              </a:rPr>
              <a:t> email_file: str</a:t>
            </a:r>
          </a:p>
          <a:p>
            <a:pPr algn="l">
              <a:lnSpc>
                <a:spcPct val="138125"/>
              </a:lnSpc>
            </a:pPr>
            <a:r>
              <a:rPr sz="975">
                <a:solidFill>
                  <a:srgbClr val="D1D5DC"/>
                </a:solidFill>
                <a:latin typeface="ui-monospace"/>
              </a:rPr>
              <a:t> </a:t>
            </a:r>
          </a:p>
          <a:p>
            <a:pPr algn="l">
              <a:lnSpc>
                <a:spcPct val="138125"/>
              </a:lnSpc>
            </a:pPr>
            <a:r>
              <a:rPr sz="975">
                <a:solidFill>
                  <a:srgbClr val="D1D5DC"/>
                </a:solidFill>
                <a:latin typeface="ui-monospace"/>
              </a:rPr>
              <a:t> </a:t>
            </a:r>
            <a:r>
              <a:rPr sz="975">
                <a:solidFill>
                  <a:srgbClr val="0048FF"/>
                </a:solidFill>
                <a:latin typeface="ui-monospace"/>
              </a:rPr>
              <a:t>@app.post</a:t>
            </a:r>
            <a:r>
              <a:rPr sz="975">
                <a:solidFill>
                  <a:srgbClr val="D1D5DC"/>
                </a:solidFill>
                <a:latin typeface="ui-monospace"/>
              </a:rPr>
              <a:t>(</a:t>
            </a:r>
            <a:r>
              <a:rPr sz="975">
                <a:solidFill>
                  <a:srgbClr val="05DF72"/>
                </a:solidFill>
                <a:latin typeface="ui-monospace"/>
              </a:rPr>
              <a:t>"/query"</a:t>
            </a:r>
            <a:r>
              <a:rPr sz="975">
                <a:solidFill>
                  <a:srgbClr val="D1D5DC"/>
                </a:solidFill>
                <a:latin typeface="ui-monospace"/>
              </a:rPr>
              <a:t>)</a:t>
            </a:r>
          </a:p>
          <a:p>
            <a:pPr algn="l">
              <a:lnSpc>
                <a:spcPct val="138125"/>
              </a:lnSpc>
            </a:pPr>
            <a:r>
              <a:rPr sz="975">
                <a:solidFill>
                  <a:srgbClr val="D1D5DC"/>
                </a:solidFill>
                <a:latin typeface="ui-monospace"/>
              </a:rPr>
              <a:t> </a:t>
            </a:r>
            <a:r>
              <a:rPr sz="975">
                <a:solidFill>
                  <a:srgbClr val="0048FF"/>
                </a:solidFill>
                <a:latin typeface="ui-monospace"/>
              </a:rPr>
              <a:t>async def</a:t>
            </a:r>
            <a:r>
              <a:rPr sz="975">
                <a:solidFill>
                  <a:srgbClr val="D1D5DC"/>
                </a:solidFill>
                <a:latin typeface="ui-monospace"/>
              </a:rPr>
              <a:t> </a:t>
            </a:r>
            <a:r>
              <a:rPr sz="975">
                <a:solidFill>
                  <a:srgbClr val="FDC700"/>
                </a:solidFill>
                <a:latin typeface="ui-monospace"/>
              </a:rPr>
              <a:t>run_rag</a:t>
            </a:r>
            <a:r>
              <a:rPr sz="975">
                <a:solidFill>
                  <a:srgbClr val="D1D5DC"/>
                </a:solidFill>
                <a:latin typeface="ui-monospace"/>
              </a:rPr>
              <a:t>(q):</a:t>
            </a:r>
          </a:p>
          <a:p>
            <a:pPr algn="l">
              <a:lnSpc>
                <a:spcPct val="138125"/>
              </a:lnSpc>
            </a:pPr>
            <a:r>
              <a:rPr sz="975">
                <a:solidFill>
                  <a:srgbClr val="D1D5DC"/>
                </a:solidFill>
                <a:latin typeface="ui-monospace"/>
              </a:rPr>
              <a:t> </a:t>
            </a:r>
            <a:r>
              <a:rPr sz="975">
                <a:solidFill>
                  <a:srgbClr val="6A7282"/>
                </a:solidFill>
                <a:latin typeface="ui-monospace"/>
              </a:rPr>
              <a:t># RAG Pipeline</a:t>
            </a:r>
          </a:p>
          <a:p>
            <a:pPr algn="l">
              <a:lnSpc>
                <a:spcPct val="138125"/>
              </a:lnSpc>
            </a:pPr>
            <a:r>
              <a:rPr sz="975">
                <a:solidFill>
                  <a:srgbClr val="D1D5DC"/>
                </a:solidFill>
                <a:latin typeface="ui-monospace"/>
              </a:rPr>
              <a:t> ctx = retrieve(q)</a:t>
            </a:r>
          </a:p>
          <a:p>
            <a:pPr algn="l">
              <a:lnSpc>
                <a:spcPct val="138125"/>
              </a:lnSpc>
            </a:pPr>
            <a:r>
              <a:rPr sz="975">
                <a:solidFill>
                  <a:srgbClr val="D1D5DC"/>
                </a:solidFill>
                <a:latin typeface="ui-monospace"/>
              </a:rPr>
              <a:t> res = generate(ctx)</a:t>
            </a:r>
          </a:p>
          <a:p>
            <a:pPr algn="l">
              <a:lnSpc>
                <a:spcPct val="138125"/>
              </a:lnSpc>
            </a:pPr>
            <a:r>
              <a:rPr sz="975">
                <a:solidFill>
                  <a:srgbClr val="D1D5DC"/>
                </a:solidFill>
                <a:latin typeface="ui-monospace"/>
              </a:rPr>
              <a:t> </a:t>
            </a:r>
            <a:r>
              <a:rPr sz="975">
                <a:solidFill>
                  <a:srgbClr val="0048FF"/>
                </a:solidFill>
                <a:latin typeface="ui-monospace"/>
              </a:rPr>
              <a:t>return</a:t>
            </a:r>
            <a:r>
              <a:rPr sz="975">
                <a:solidFill>
                  <a:srgbClr val="D1D5DC"/>
                </a:solidFill>
                <a:latin typeface="ui-monospace"/>
              </a:rPr>
              <a:t> res</a:t>
            </a:r>
          </a:p>
          <a:p>
            <a:pPr algn="l">
              <a:lnSpc>
                <a:spcPct val="138125"/>
              </a:lnSpc>
            </a:pPr>
            <a:r>
              <a:rPr sz="975">
                <a:solidFill>
                  <a:srgbClr val="D1D5DC"/>
                </a:solidFill>
                <a:latin typeface="ui-monospace"/>
              </a:rPr>
              <a:t> </a:t>
            </a:r>
          </a:p>
          <a:p>
            <a:pPr algn="l">
              <a:lnSpc>
                <a:spcPct val="138125"/>
              </a:lnSpc>
            </a:pPr>
            <a:r>
              <a:rPr sz="975">
                <a:solidFill>
                  <a:srgbClr val="D1D5DC"/>
                </a:solidFill>
                <a:latin typeface="ui-monospace"/>
              </a:rPr>
              <a:t> </a:t>
            </a:r>
            <a:r>
              <a:rPr sz="975">
                <a:solidFill>
                  <a:srgbClr val="6A7282"/>
                </a:solidFill>
                <a:latin typeface="ui-monospace"/>
              </a:rPr>
              <a:t># Start Server</a:t>
            </a:r>
          </a:p>
          <a:p>
            <a:pPr algn="l">
              <a:lnSpc>
                <a:spcPct val="138125"/>
              </a:lnSpc>
            </a:pPr>
            <a:r>
              <a:rPr sz="975">
                <a:solidFill>
                  <a:srgbClr val="D1D5DC"/>
                </a:solidFill>
                <a:latin typeface="ui-monospace"/>
              </a:rPr>
              <a:t> </a:t>
            </a:r>
            <a:r>
              <a:rPr sz="975">
                <a:solidFill>
                  <a:srgbClr val="0048FF"/>
                </a:solidFill>
                <a:latin typeface="ui-monospace"/>
              </a:rPr>
              <a:t>if</a:t>
            </a:r>
            <a:r>
              <a:rPr sz="975">
                <a:solidFill>
                  <a:srgbClr val="D1D5DC"/>
                </a:solidFill>
                <a:latin typeface="ui-monospace"/>
              </a:rPr>
              <a:t> __name__ == </a:t>
            </a:r>
            <a:r>
              <a:rPr sz="975">
                <a:solidFill>
                  <a:srgbClr val="05DF72"/>
                </a:solidFill>
                <a:latin typeface="ui-monospace"/>
              </a:rPr>
              <a:t>"__main__"</a:t>
            </a:r>
            <a:r>
              <a:rPr sz="975">
                <a:solidFill>
                  <a:srgbClr val="D1D5DC"/>
                </a:solidFill>
                <a:latin typeface="ui-monospace"/>
              </a:rPr>
              <a:t>:</a:t>
            </a:r>
          </a:p>
          <a:p>
            <a:pPr algn="l">
              <a:lnSpc>
                <a:spcPct val="138125"/>
              </a:lnSpc>
            </a:pPr>
            <a:r>
              <a:rPr sz="975">
                <a:solidFill>
                  <a:srgbClr val="D1D5DC"/>
                </a:solidFill>
                <a:latin typeface="ui-monospace"/>
              </a:rPr>
              <a:t> uvicorn.run(app)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8250" y="1669256"/>
            <a:ext cx="8305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3600" b="1">
                <a:solidFill>
                  <a:srgbClr val="000000"/>
                </a:solidFill>
                <a:latin typeface="Segoe UI"/>
              </a:rPr>
              <a:t>Code Walkthrough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8250" y="2336006"/>
            <a:ext cx="4857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000"/>
              </a:lnSpc>
            </a:pPr>
            <a:r>
              <a:rPr sz="1500">
                <a:solidFill>
                  <a:srgbClr val="000000"/>
                </a:solidFill>
                <a:latin typeface="Segoe UI"/>
              </a:rPr>
              <a:t>A modular architecture designed for extensibility, strict output generation, and efficient data retrieval.</a:t>
            </a:r>
          </a:p>
        </p:txBody>
      </p:sp>
      <p:sp>
        <p:nvSpPr>
          <p:cNvPr id="14" name="Oval 13"/>
          <p:cNvSpPr/>
          <p:nvPr/>
        </p:nvSpPr>
        <p:spPr>
          <a:xfrm>
            <a:off x="10287000" y="1669256"/>
            <a:ext cx="952500" cy="952500"/>
          </a:xfrm>
          <a:prstGeom prst="ellipse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9275" y="3450431"/>
            <a:ext cx="112204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500" b="1">
                <a:solidFill>
                  <a:srgbClr val="0048FF"/>
                </a:solidFill>
                <a:latin typeface="Segoe UI"/>
              </a:rPr>
              <a:t>api.py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9275" y="3736181"/>
            <a:ext cx="11220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200">
                <a:solidFill>
                  <a:srgbClr val="000000"/>
                </a:solidFill>
                <a:latin typeface="Segoe UI"/>
              </a:rPr>
              <a:t>FastAPI app, RAG initialization, &amp; endpoints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9275" y="4155281"/>
            <a:ext cx="112204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500" b="1">
                <a:solidFill>
                  <a:srgbClr val="0048FF"/>
                </a:solidFill>
                <a:latin typeface="Segoe UI"/>
              </a:rPr>
              <a:t>api_methodes.py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9275" y="4441031"/>
            <a:ext cx="11220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200">
                <a:solidFill>
                  <a:srgbClr val="000000"/>
                </a:solidFill>
                <a:latin typeface="Segoe UI"/>
              </a:rPr>
              <a:t>Text chunking &amp; data loading utilities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9275" y="4860131"/>
            <a:ext cx="112204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500" b="1">
                <a:solidFill>
                  <a:srgbClr val="0048FF"/>
                </a:solidFill>
                <a:latin typeface="Segoe UI"/>
              </a:rPr>
              <a:t>prompt.py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9275" y="5145881"/>
            <a:ext cx="11220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200">
                <a:solidFill>
                  <a:srgbClr val="000000"/>
                </a:solidFill>
                <a:latin typeface="Segoe UI"/>
              </a:rPr>
              <a:t>JSON schemas &amp; prompt templates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9275" y="5564981"/>
            <a:ext cx="112204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500" b="1">
                <a:solidFill>
                  <a:srgbClr val="0048FF"/>
                </a:solidFill>
                <a:latin typeface="Segoe UI"/>
              </a:rPr>
              <a:t>dataset_telecom.json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9275" y="5850731"/>
            <a:ext cx="11220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200">
                <a:solidFill>
                  <a:srgbClr val="000000"/>
                </a:solidFill>
                <a:latin typeface="Segoe UI"/>
              </a:rPr>
              <a:t>Source corpus &amp; output storage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43475" y="190500"/>
            <a:ext cx="28194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- Email Analysis API 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0" y="190500"/>
            <a:ext cx="24765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Email Analysis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476250" y="795337"/>
            <a:ext cx="4191000" cy="2857500"/>
          </a:xfrm>
          <a:prstGeom prst="rect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mp_slide_0_el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128587"/>
            <a:ext cx="1790700" cy="1790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050" y="1290637"/>
            <a:ext cx="7162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Request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1785937"/>
            <a:ext cx="716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200">
                <a:solidFill>
                  <a:srgbClr val="FFFFFF">
                    <a:alpha val="80000"/>
                  </a:srgbClr>
                </a:solidFill>
                <a:latin typeface="Segoe UI"/>
              </a:rPr>
              <a:t>QueryRequest (Pydantic)</a:t>
            </a:r>
          </a:p>
        </p:txBody>
      </p:sp>
      <p:pic>
        <p:nvPicPr>
          <p:cNvPr id="9" name="Picture 8" descr="temp_slide_0_el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804987"/>
            <a:ext cx="4152900" cy="1638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2975" y="2252662"/>
            <a:ext cx="651510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200">
                <a:solidFill>
                  <a:srgbClr val="FFFFFF"/>
                </a:solidFill>
                <a:latin typeface="ui-monospace"/>
              </a:rPr>
              <a:t>{ "email_file": "path/to/email.txt" 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250" y="3843337"/>
            <a:ext cx="4191000" cy="17145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76250" y="3843337"/>
            <a:ext cx="0" cy="1714500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7250" y="4148137"/>
            <a:ext cx="70104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Design Philosophy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4510087"/>
            <a:ext cx="350520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200">
                <a:solidFill>
                  <a:srgbClr val="000000">
                    <a:alpha val="70196"/>
                  </a:srgbClr>
                </a:solidFill>
                <a:latin typeface="Segoe UI"/>
              </a:rPr>
              <a:t>This design avoids recomputing embeddings on each request, ensuring high performance and low latency.</a:t>
            </a:r>
          </a:p>
        </p:txBody>
      </p:sp>
      <p:pic>
        <p:nvPicPr>
          <p:cNvPr id="15" name="Picture 14" descr="temp_slide_0_el_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950" y="1221581"/>
            <a:ext cx="47625" cy="4800600"/>
          </a:xfrm>
          <a:prstGeom prst="rect">
            <a:avLst/>
          </a:prstGeom>
        </p:spPr>
      </p:pic>
      <p:pic>
        <p:nvPicPr>
          <p:cNvPr id="16" name="Picture 15" descr="temp_slide_0_el_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2700" y="1100137"/>
            <a:ext cx="1428750" cy="142875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11287125" y="1252537"/>
            <a:ext cx="428625" cy="428625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38775" y="1176337"/>
            <a:ext cx="125539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3600" b="1">
                <a:solidFill>
                  <a:srgbClr val="000000"/>
                </a:solidFill>
                <a:latin typeface="Segoe UI"/>
              </a:rPr>
              <a:t>api.py - Core Components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8775" y="1843087"/>
            <a:ext cx="125539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500">
                <a:solidFill>
                  <a:srgbClr val="000000"/>
                </a:solidFill>
                <a:latin typeface="Segoe UI"/>
              </a:rPr>
              <a:t>Global In-Memory State Objects</a:t>
            </a:r>
          </a:p>
        </p:txBody>
      </p:sp>
      <p:pic>
        <p:nvPicPr>
          <p:cNvPr id="20" name="Picture 19" descr="temp_slide_0_el_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3025" y="2262187"/>
            <a:ext cx="876300" cy="876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57875" y="2509837"/>
            <a:ext cx="34861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embedding_model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7875" y="2786062"/>
            <a:ext cx="3486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050">
                <a:solidFill>
                  <a:srgbClr val="6A7282"/>
                </a:solidFill>
                <a:latin typeface="Segoe UI"/>
              </a:rPr>
              <a:t>SentenceTransformer</a:t>
            </a:r>
          </a:p>
        </p:txBody>
      </p:sp>
      <p:pic>
        <p:nvPicPr>
          <p:cNvPr id="23" name="Picture 22" descr="temp_slide_0_el_2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6762" y="2262187"/>
            <a:ext cx="876300" cy="8763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091612" y="2509837"/>
            <a:ext cx="217170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1612" y="2786062"/>
            <a:ext cx="21717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050">
                <a:solidFill>
                  <a:srgbClr val="6A7282"/>
                </a:solidFill>
                <a:latin typeface="Segoe UI"/>
              </a:rPr>
              <a:t>ChromaDB Client</a:t>
            </a:r>
          </a:p>
        </p:txBody>
      </p:sp>
      <p:pic>
        <p:nvPicPr>
          <p:cNvPr id="26" name="Picture 25" descr="temp_slide_0_el_2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3025" y="3024187"/>
            <a:ext cx="876300" cy="8763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57875" y="3271837"/>
            <a:ext cx="17716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collection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7875" y="3548062"/>
            <a:ext cx="17716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050">
                <a:solidFill>
                  <a:srgbClr val="6A7282"/>
                </a:solidFill>
                <a:latin typeface="Segoe UI"/>
              </a:rPr>
              <a:t>Vector Store</a:t>
            </a:r>
          </a:p>
        </p:txBody>
      </p:sp>
      <p:pic>
        <p:nvPicPr>
          <p:cNvPr id="29" name="Picture 28" descr="temp_slide_0_el_2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6762" y="3024187"/>
            <a:ext cx="876300" cy="8763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091612" y="3271837"/>
            <a:ext cx="285750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document_text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1612" y="3548062"/>
            <a:ext cx="2857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050">
                <a:solidFill>
                  <a:srgbClr val="6A7282"/>
                </a:solidFill>
                <a:latin typeface="Segoe UI"/>
              </a:rPr>
              <a:t>Raw Corpus Data</a:t>
            </a:r>
          </a:p>
        </p:txBody>
      </p:sp>
      <p:pic>
        <p:nvPicPr>
          <p:cNvPr id="32" name="Picture 31" descr="temp_slide_0_el_2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3025" y="3786187"/>
            <a:ext cx="876300" cy="8763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857875" y="4033837"/>
            <a:ext cx="251460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chunks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7875" y="4310062"/>
            <a:ext cx="25146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050">
                <a:solidFill>
                  <a:srgbClr val="6A7282"/>
                </a:solidFill>
                <a:latin typeface="Segoe UI"/>
              </a:rPr>
              <a:t>Split Text Segments</a:t>
            </a:r>
          </a:p>
        </p:txBody>
      </p:sp>
      <p:pic>
        <p:nvPicPr>
          <p:cNvPr id="35" name="Picture 34" descr="temp_slide_0_el_3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6762" y="3786187"/>
            <a:ext cx="876300" cy="8763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091612" y="4033837"/>
            <a:ext cx="29908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embeddings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1612" y="4310062"/>
            <a:ext cx="29908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050">
                <a:solidFill>
                  <a:srgbClr val="6A7282"/>
                </a:solidFill>
                <a:latin typeface="Segoe UI"/>
              </a:rPr>
              <a:t>Vector Representations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43475" y="190500"/>
            <a:ext cx="28194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- Email Analysis API 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0" y="190500"/>
            <a:ext cx="24765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Email Analysis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476250" y="795337"/>
            <a:ext cx="3810000" cy="2286000"/>
          </a:xfrm>
          <a:prstGeom prst="rect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mp_slide_0_el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7387"/>
            <a:ext cx="1600200" cy="1790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050" y="1181100"/>
            <a:ext cx="1390650" cy="333375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350" b="1">
                <a:solidFill>
                  <a:srgbClr val="0048FF"/>
                </a:solidFill>
                <a:latin typeface="Segoe UI"/>
              </a:rPr>
              <a:t>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90675" y="1219200"/>
            <a:ext cx="2074068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350">
                <a:solidFill>
                  <a:srgbClr val="FFFFFF">
                    <a:alpha val="80000"/>
                  </a:srgbClr>
                </a:solidFill>
                <a:latin typeface="ui-monospace"/>
              </a:rPr>
              <a:t>/initialize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1666875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2400" b="1">
                <a:solidFill>
                  <a:srgbClr val="FFFFFF"/>
                </a:solidFill>
                <a:latin typeface="Segoe UI"/>
              </a:rPr>
              <a:t>System Prep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200275"/>
            <a:ext cx="32004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200">
                <a:solidFill>
                  <a:srgbClr val="FFFFFF">
                    <a:alpha val="80000"/>
                  </a:srgbClr>
                </a:solidFill>
                <a:latin typeface="Segoe UI"/>
              </a:rPr>
              <a:t>Prepares the RAG system by loading models and indexing the document corpus.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250" y="3271837"/>
            <a:ext cx="3810000" cy="2286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76250" y="3271837"/>
            <a:ext cx="0" cy="2286000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7250" y="3600450"/>
            <a:ext cx="62484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Response Example</a:t>
            </a:r>
          </a:p>
        </p:txBody>
      </p:sp>
      <p:pic>
        <p:nvPicPr>
          <p:cNvPr id="14" name="Picture 13" descr="temp_slide_0_el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52850"/>
            <a:ext cx="3695700" cy="17621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19175" y="4200525"/>
            <a:ext cx="5600700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050">
                <a:solidFill>
                  <a:srgbClr val="000000">
                    <a:alpha val="70196"/>
                  </a:srgbClr>
                </a:solidFill>
                <a:latin typeface="ui-monospace"/>
              </a:rPr>
              <a:t>{ "status": "initialized", "chunks_loaded": 150 }</a:t>
            </a:r>
          </a:p>
        </p:txBody>
      </p:sp>
      <p:pic>
        <p:nvPicPr>
          <p:cNvPr id="16" name="Picture 15" descr="temp_slide_0_el_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221581"/>
            <a:ext cx="47625" cy="4800600"/>
          </a:xfrm>
          <a:prstGeom prst="rect">
            <a:avLst/>
          </a:prstGeom>
        </p:spPr>
      </p:pic>
      <p:pic>
        <p:nvPicPr>
          <p:cNvPr id="17" name="Picture 16" descr="temp_slide_0_el_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2700" y="909637"/>
            <a:ext cx="1428750" cy="142875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11287125" y="1062037"/>
            <a:ext cx="428625" cy="428625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53025" y="985837"/>
            <a:ext cx="13125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3600" b="1">
                <a:solidFill>
                  <a:srgbClr val="000000"/>
                </a:solidFill>
                <a:latin typeface="Segoe UI"/>
              </a:rPr>
              <a:t>POST /initialize Endpoint</a:t>
            </a:r>
          </a:p>
        </p:txBody>
      </p:sp>
      <p:pic>
        <p:nvPicPr>
          <p:cNvPr id="20" name="Picture 19" descr="temp_slide_0_el_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7275" y="1690687"/>
            <a:ext cx="914400" cy="914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648325" y="1938337"/>
            <a:ext cx="6840438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Load embedding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48325" y="2214562"/>
            <a:ext cx="6840438" cy="266700"/>
          </a:xfrm>
          <a:prstGeom prst="rect">
            <a:avLst/>
          </a:prstGeom>
          <a:solidFill>
            <a:srgbClr val="F3F4F6"/>
          </a:solidFill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200">
                <a:solidFill>
                  <a:srgbClr val="4A5565"/>
                </a:solidFill>
                <a:latin typeface="ui-monospace"/>
              </a:rPr>
              <a:t>SentenceTransformer("all-MiniLM-L6-v2")</a:t>
            </a:r>
          </a:p>
        </p:txBody>
      </p:sp>
      <p:pic>
        <p:nvPicPr>
          <p:cNvPr id="23" name="Picture 22" descr="temp_slide_0_el_2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7275" y="2462212"/>
            <a:ext cx="914400" cy="914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48325" y="2709862"/>
            <a:ext cx="73723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Load corpus from dataset_telecom.json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48325" y="2986087"/>
            <a:ext cx="73723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200">
                <a:solidFill>
                  <a:srgbClr val="4A5565"/>
                </a:solidFill>
                <a:latin typeface="Segoe UI"/>
              </a:rPr>
              <a:t>using </a:t>
            </a:r>
            <a:r>
              <a:rPr sz="1200">
                <a:solidFill>
                  <a:srgbClr val="4A5565"/>
                </a:solidFill>
                <a:latin typeface="ui-monospace"/>
              </a:rPr>
              <a:t>load_document</a:t>
            </a:r>
          </a:p>
        </p:txBody>
      </p:sp>
      <p:pic>
        <p:nvPicPr>
          <p:cNvPr id="26" name="Picture 25" descr="temp_slide_0_el_2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7275" y="3224212"/>
            <a:ext cx="914400" cy="914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48325" y="3471862"/>
            <a:ext cx="594360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Split text into chunks of size 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48325" y="3748087"/>
            <a:ext cx="59436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200">
                <a:solidFill>
                  <a:srgbClr val="4A5565"/>
                </a:solidFill>
                <a:latin typeface="Segoe UI"/>
              </a:rPr>
              <a:t>using </a:t>
            </a:r>
            <a:r>
              <a:rPr sz="1200">
                <a:solidFill>
                  <a:srgbClr val="4A5565"/>
                </a:solidFill>
                <a:latin typeface="ui-monospace"/>
              </a:rPr>
              <a:t>chunk_text</a:t>
            </a:r>
          </a:p>
        </p:txBody>
      </p:sp>
      <p:pic>
        <p:nvPicPr>
          <p:cNvPr id="29" name="Picture 28" descr="temp_slide_0_el_2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7275" y="3986212"/>
            <a:ext cx="914400" cy="9144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648325" y="4233862"/>
            <a:ext cx="67246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Compute embeddings for all chunks</a:t>
            </a:r>
          </a:p>
        </p:txBody>
      </p:sp>
      <p:pic>
        <p:nvPicPr>
          <p:cNvPr id="31" name="Picture 30" descr="temp_slide_0_el_2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7275" y="4595812"/>
            <a:ext cx="914400" cy="914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648325" y="4843462"/>
            <a:ext cx="521970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Create a local Chroma client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48325" y="5119687"/>
            <a:ext cx="52197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200">
                <a:solidFill>
                  <a:srgbClr val="4A5565"/>
                </a:solidFill>
                <a:latin typeface="Segoe UI"/>
              </a:rPr>
              <a:t>and recreate collection </a:t>
            </a:r>
            <a:r>
              <a:rPr sz="1200">
                <a:solidFill>
                  <a:srgbClr val="4A5565"/>
                </a:solidFill>
                <a:latin typeface="ui-monospace"/>
              </a:rPr>
              <a:t>my_docs</a:t>
            </a:r>
          </a:p>
        </p:txBody>
      </p:sp>
      <p:pic>
        <p:nvPicPr>
          <p:cNvPr id="34" name="Picture 33" descr="temp_slide_0_el_3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7275" y="5357812"/>
            <a:ext cx="914400" cy="9144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648325" y="5605462"/>
            <a:ext cx="77533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Insert all chunks and vectors into Chroma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43475" y="190500"/>
            <a:ext cx="28194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- Email Analysis API 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0" y="190500"/>
            <a:ext cx="24765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Email Analysis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476250" y="795337"/>
            <a:ext cx="3619500" cy="2095500"/>
          </a:xfrm>
          <a:prstGeom prst="rect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mp_slide_0_el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133" y="195921"/>
            <a:ext cx="1656032" cy="16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050" y="1085850"/>
            <a:ext cx="1390650" cy="333375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350" b="1">
                <a:solidFill>
                  <a:srgbClr val="0048FF"/>
                </a:solidFill>
                <a:latin typeface="Segoe UI"/>
              </a:rPr>
              <a:t>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90675" y="1123950"/>
            <a:ext cx="113139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350">
                <a:solidFill>
                  <a:srgbClr val="FFFFFF">
                    <a:alpha val="80000"/>
                  </a:srgbClr>
                </a:solidFill>
                <a:latin typeface="ui-monospace"/>
              </a:rPr>
              <a:t>/query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1571625"/>
            <a:ext cx="6019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2400" b="1">
                <a:solidFill>
                  <a:srgbClr val="FFFFFF"/>
                </a:solidFill>
                <a:latin typeface="Segoe UI"/>
              </a:rPr>
              <a:t>Process 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105025"/>
            <a:ext cx="30099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200">
                <a:solidFill>
                  <a:srgbClr val="FFFFFF">
                    <a:alpha val="80000"/>
                  </a:srgbClr>
                </a:solidFill>
                <a:latin typeface="Segoe UI"/>
              </a:rPr>
              <a:t>Retrieves context, augments prompt, and classifies email using LLM.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250" y="3081337"/>
            <a:ext cx="3619500" cy="2476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mp_slide_0_el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" y="4662487"/>
            <a:ext cx="1333500" cy="1333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1050" y="3414712"/>
            <a:ext cx="6019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LLM Configuration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50" y="3890962"/>
            <a:ext cx="1019174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050">
                <a:solidFill>
                  <a:srgbClr val="99A1AF"/>
                </a:solidFill>
                <a:latin typeface="Segoe UI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" y="4081462"/>
            <a:ext cx="6019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800" b="1">
                <a:solidFill>
                  <a:srgbClr val="0048FF"/>
                </a:solidFill>
                <a:latin typeface="ui-monospace"/>
              </a:rPr>
              <a:t>qwen3:1.7b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050" y="4614862"/>
            <a:ext cx="1287958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050">
                <a:solidFill>
                  <a:srgbClr val="99A1AF"/>
                </a:solidFill>
                <a:latin typeface="Segoe UI"/>
              </a:rPr>
              <a:t>API Call</a:t>
            </a:r>
          </a:p>
        </p:txBody>
      </p:sp>
      <p:pic>
        <p:nvPicPr>
          <p:cNvPr id="17" name="Picture 16" descr="temp_slide_0_el_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557712"/>
            <a:ext cx="3581400" cy="952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1050" y="4843462"/>
            <a:ext cx="60198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7500"/>
              </a:lnSpc>
              <a:defRPr sz="1200">
                <a:solidFill>
                  <a:srgbClr val="FFFFFF"/>
                </a:solidFill>
                <a:latin typeface="ui-monospace"/>
              </a:defRPr>
            </a:pPr>
            <a:r>
              <a:t>ollama.chat(...)</a:t>
            </a:r>
          </a:p>
        </p:txBody>
      </p:sp>
      <p:pic>
        <p:nvPicPr>
          <p:cNvPr id="19" name="Picture 18" descr="temp_slide_0_el_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700" y="1221581"/>
            <a:ext cx="47625" cy="4800600"/>
          </a:xfrm>
          <a:prstGeom prst="rect">
            <a:avLst/>
          </a:prstGeom>
        </p:spPr>
      </p:pic>
      <p:pic>
        <p:nvPicPr>
          <p:cNvPr id="20" name="Picture 19" descr="temp_slide_0_el_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2700" y="814387"/>
            <a:ext cx="1428750" cy="1428750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11287125" y="966787"/>
            <a:ext cx="428625" cy="428625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62525" y="890587"/>
            <a:ext cx="13506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3600" b="1">
                <a:solidFill>
                  <a:srgbClr val="000000"/>
                </a:solidFill>
                <a:latin typeface="Segoe UI"/>
              </a:rPr>
              <a:t>POST /query Endpoint</a:t>
            </a:r>
          </a:p>
        </p:txBody>
      </p:sp>
      <p:pic>
        <p:nvPicPr>
          <p:cNvPr id="23" name="Picture 22" descr="temp_slide_0_el_2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6775" y="1500187"/>
            <a:ext cx="876300" cy="8763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81625" y="1747837"/>
            <a:ext cx="428625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350" b="1">
                <a:solidFill>
                  <a:srgbClr val="000000"/>
                </a:solidFill>
                <a:latin typeface="Segoe UI"/>
              </a:rPr>
              <a:t>Verify system is initialized</a:t>
            </a:r>
          </a:p>
        </p:txBody>
      </p:sp>
      <p:pic>
        <p:nvPicPr>
          <p:cNvPr id="25" name="Picture 24" descr="temp_slide_0_el_2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5787" y="1500187"/>
            <a:ext cx="876300" cy="8763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910637" y="1747837"/>
            <a:ext cx="398145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350" b="1">
                <a:solidFill>
                  <a:srgbClr val="000000"/>
                </a:solidFill>
                <a:latin typeface="Segoe UI"/>
              </a:rPr>
              <a:t>Build query embedding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0637" y="2000250"/>
            <a:ext cx="39814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050">
                <a:solidFill>
                  <a:srgbClr val="6A7282"/>
                </a:solidFill>
                <a:latin typeface="ui-monospace"/>
              </a:rPr>
              <a:t>from prompt_orange</a:t>
            </a:r>
          </a:p>
        </p:txBody>
      </p:sp>
      <p:pic>
        <p:nvPicPr>
          <p:cNvPr id="28" name="Picture 27" descr="temp_slide_0_el_2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6775" y="2181225"/>
            <a:ext cx="876300" cy="8763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381625" y="2428875"/>
            <a:ext cx="481965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350" b="1">
                <a:solidFill>
                  <a:srgbClr val="000000"/>
                </a:solidFill>
                <a:latin typeface="Segoe UI"/>
              </a:rPr>
              <a:t>Retrieve top 5 similar chunks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81625" y="2681287"/>
            <a:ext cx="48196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050">
                <a:solidFill>
                  <a:srgbClr val="6A7282"/>
                </a:solidFill>
                <a:latin typeface="ui-monospace"/>
              </a:rPr>
              <a:t>from Chroma</a:t>
            </a:r>
          </a:p>
        </p:txBody>
      </p:sp>
      <p:pic>
        <p:nvPicPr>
          <p:cNvPr id="31" name="Picture 30" descr="temp_slide_0_el_2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05787" y="2181225"/>
            <a:ext cx="876300" cy="8763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910637" y="2428875"/>
            <a:ext cx="3372742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350" b="1">
                <a:solidFill>
                  <a:srgbClr val="000000"/>
                </a:solidFill>
                <a:latin typeface="Segoe UI"/>
              </a:rPr>
              <a:t>Read email 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0637" y="2681287"/>
            <a:ext cx="337274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050">
                <a:solidFill>
                  <a:srgbClr val="6A7282"/>
                </a:solidFill>
                <a:latin typeface="ui-monospace"/>
              </a:rPr>
              <a:t>from request.email_file</a:t>
            </a:r>
          </a:p>
        </p:txBody>
      </p:sp>
      <p:pic>
        <p:nvPicPr>
          <p:cNvPr id="34" name="Picture 33" descr="temp_slide_0_el_3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6775" y="2862262"/>
            <a:ext cx="876300" cy="8763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381625" y="3109912"/>
            <a:ext cx="440055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350" b="1">
                <a:solidFill>
                  <a:srgbClr val="000000"/>
                </a:solidFill>
                <a:latin typeface="Segoe UI"/>
              </a:rPr>
              <a:t>Build augmented_prompt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81625" y="3362325"/>
            <a:ext cx="44005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050">
                <a:solidFill>
                  <a:srgbClr val="6A7282"/>
                </a:solidFill>
                <a:latin typeface="Segoe UI"/>
              </a:rPr>
              <a:t>context + instructions + content</a:t>
            </a:r>
          </a:p>
        </p:txBody>
      </p:sp>
      <p:pic>
        <p:nvPicPr>
          <p:cNvPr id="37" name="Picture 36" descr="temp_slide_0_el_3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05787" y="2862262"/>
            <a:ext cx="876300" cy="8763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910637" y="3109912"/>
            <a:ext cx="249287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350" b="1">
                <a:solidFill>
                  <a:srgbClr val="000000"/>
                </a:solidFill>
                <a:latin typeface="Segoe UI"/>
              </a:rPr>
              <a:t>Call Ollama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0637" y="3362325"/>
            <a:ext cx="249287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050">
                <a:solidFill>
                  <a:srgbClr val="6A7282"/>
                </a:solidFill>
                <a:latin typeface="ui-monospace"/>
              </a:rPr>
              <a:t>model: qwen3:1.7b</a:t>
            </a:r>
          </a:p>
        </p:txBody>
      </p:sp>
      <p:pic>
        <p:nvPicPr>
          <p:cNvPr id="40" name="Picture 39" descr="temp_slide_0_el_37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76775" y="3543300"/>
            <a:ext cx="876300" cy="8763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381625" y="3790950"/>
            <a:ext cx="46863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350" b="1">
                <a:solidFill>
                  <a:srgbClr val="000000"/>
                </a:solidFill>
                <a:latin typeface="Segoe UI"/>
              </a:rPr>
              <a:t>Parse returned text as JSON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81625" y="4043362"/>
            <a:ext cx="46863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050">
                <a:solidFill>
                  <a:srgbClr val="6A7282"/>
                </a:solidFill>
                <a:latin typeface="ui-monospace"/>
              </a:rPr>
              <a:t>json.loads</a:t>
            </a:r>
          </a:p>
        </p:txBody>
      </p:sp>
      <p:pic>
        <p:nvPicPr>
          <p:cNvPr id="43" name="Picture 42" descr="temp_slide_0_el_4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05787" y="3543300"/>
            <a:ext cx="876300" cy="8763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910637" y="3790950"/>
            <a:ext cx="367665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350" b="1">
                <a:solidFill>
                  <a:srgbClr val="000000"/>
                </a:solidFill>
                <a:latin typeface="Segoe UI"/>
              </a:rPr>
              <a:t>Save pair into dataset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0637" y="4043362"/>
            <a:ext cx="36766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050">
                <a:solidFill>
                  <a:srgbClr val="6A7282"/>
                </a:solidFill>
                <a:latin typeface="ui-monospace"/>
              </a:rPr>
              <a:t>via save_to_dataset</a:t>
            </a:r>
          </a:p>
        </p:txBody>
      </p:sp>
      <p:pic>
        <p:nvPicPr>
          <p:cNvPr id="46" name="Picture 45" descr="temp_slide_0_el_4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76775" y="4224337"/>
            <a:ext cx="876300" cy="8763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381625" y="4471987"/>
            <a:ext cx="512445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350" b="1">
                <a:solidFill>
                  <a:srgbClr val="000000"/>
                </a:solidFill>
                <a:latin typeface="Segoe UI"/>
              </a:rPr>
              <a:t>Return JSON response directly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43475" y="190500"/>
            <a:ext cx="28194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- Email Analysis API 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0" y="190500"/>
            <a:ext cx="24765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Email Analysis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2438400"/>
            <a:ext cx="3810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3600" b="1">
                <a:solidFill>
                  <a:srgbClr val="000000"/>
                </a:solidFill>
                <a:latin typeface="Segoe UI"/>
              </a:rPr>
              <a:t>Health &amp; Status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3867150"/>
            <a:ext cx="3810000" cy="928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500">
                <a:solidFill>
                  <a:srgbClr val="000000"/>
                </a:solidFill>
                <a:latin typeface="Segoe UI"/>
              </a:rPr>
              <a:t>Essential API endpoints designed for real-time service monitoring and detailed system debugging.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6250" y="5176837"/>
            <a:ext cx="952500" cy="38100"/>
          </a:xfrm>
          <a:prstGeom prst="rect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57750" y="1445418"/>
            <a:ext cx="3238500" cy="4762500"/>
          </a:xfrm>
          <a:prstGeom prst="rect">
            <a:avLst/>
          </a:prstGeom>
          <a:solidFill>
            <a:srgbClr val="0048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2035968"/>
            <a:ext cx="487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2721768"/>
            <a:ext cx="487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2400">
                <a:solidFill>
                  <a:srgbClr val="FFFFFF"/>
                </a:solidFill>
                <a:latin typeface="Segoe UI"/>
              </a:rPr>
              <a:t>/health</a:t>
            </a:r>
          </a:p>
        </p:txBody>
      </p:sp>
      <p:pic>
        <p:nvPicPr>
          <p:cNvPr id="11" name="Picture 10" descr="temp_slide_0_el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0" y="3445668"/>
            <a:ext cx="2476500" cy="476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57800" y="3759993"/>
            <a:ext cx="4876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2100" b="1">
                <a:solidFill>
                  <a:srgbClr val="FFFFFF"/>
                </a:solidFill>
                <a:latin typeface="Segoe UI"/>
              </a:rPr>
              <a:t>Service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4255293"/>
            <a:ext cx="243840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350">
                <a:solidFill>
                  <a:srgbClr val="FFFFFF"/>
                </a:solidFill>
                <a:latin typeface="Segoe UI"/>
              </a:rPr>
              <a:t>Simple online check + initialized flag.</a:t>
            </a:r>
          </a:p>
        </p:txBody>
      </p:sp>
      <p:pic>
        <p:nvPicPr>
          <p:cNvPr id="14" name="Picture 13" descr="temp_slide_0_el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0" y="5064918"/>
            <a:ext cx="1028700" cy="10287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477250" y="1445418"/>
            <a:ext cx="3238500" cy="47625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77300" y="2035968"/>
            <a:ext cx="487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3600" b="1">
                <a:solidFill>
                  <a:srgbClr val="0048FF"/>
                </a:solidFill>
                <a:latin typeface="Segoe UI"/>
              </a:rPr>
              <a:t>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77300" y="2721768"/>
            <a:ext cx="487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2400">
                <a:solidFill>
                  <a:srgbClr val="4A5565"/>
                </a:solidFill>
                <a:latin typeface="Segoe UI"/>
              </a:rPr>
              <a:t>/status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7300" y="3750468"/>
            <a:ext cx="4876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2100" b="1">
                <a:solidFill>
                  <a:srgbClr val="000000"/>
                </a:solidFill>
                <a:latin typeface="Segoe UI"/>
              </a:rPr>
              <a:t>Debug Info</a:t>
            </a:r>
          </a:p>
        </p:txBody>
      </p:sp>
      <p:sp>
        <p:nvSpPr>
          <p:cNvPr id="19" name="Oval 18"/>
          <p:cNvSpPr/>
          <p:nvPr/>
        </p:nvSpPr>
        <p:spPr>
          <a:xfrm>
            <a:off x="8877300" y="4394596"/>
            <a:ext cx="76200" cy="76200"/>
          </a:xfrm>
          <a:prstGeom prst="ellipse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7800" y="4293393"/>
            <a:ext cx="4095750" cy="2786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350">
                <a:solidFill>
                  <a:srgbClr val="000000"/>
                </a:solidFill>
                <a:latin typeface="Segoe UI"/>
              </a:rPr>
              <a:t>Embedding model loaded</a:t>
            </a:r>
          </a:p>
        </p:txBody>
      </p:sp>
      <p:sp>
        <p:nvSpPr>
          <p:cNvPr id="21" name="Oval 20"/>
          <p:cNvSpPr/>
          <p:nvPr/>
        </p:nvSpPr>
        <p:spPr>
          <a:xfrm>
            <a:off x="8877300" y="4787503"/>
            <a:ext cx="76200" cy="76200"/>
          </a:xfrm>
          <a:prstGeom prst="ellipse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7800" y="4686300"/>
            <a:ext cx="3086100" cy="2786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350">
                <a:solidFill>
                  <a:srgbClr val="000000"/>
                </a:solidFill>
                <a:latin typeface="Segoe UI"/>
              </a:rPr>
              <a:t>Database initialized</a:t>
            </a:r>
          </a:p>
        </p:txBody>
      </p:sp>
      <p:sp>
        <p:nvSpPr>
          <p:cNvPr id="23" name="Oval 22"/>
          <p:cNvSpPr/>
          <p:nvPr/>
        </p:nvSpPr>
        <p:spPr>
          <a:xfrm>
            <a:off x="8877300" y="5180409"/>
            <a:ext cx="76200" cy="76200"/>
          </a:xfrm>
          <a:prstGeom prst="ellipse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7800" y="5079206"/>
            <a:ext cx="2076450" cy="2786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350">
                <a:solidFill>
                  <a:srgbClr val="000000"/>
                </a:solidFill>
                <a:latin typeface="Segoe UI"/>
              </a:rPr>
              <a:t>Chunk count</a:t>
            </a:r>
          </a:p>
        </p:txBody>
      </p:sp>
      <p:sp>
        <p:nvSpPr>
          <p:cNvPr id="25" name="Oval 24"/>
          <p:cNvSpPr/>
          <p:nvPr/>
        </p:nvSpPr>
        <p:spPr>
          <a:xfrm>
            <a:off x="8877300" y="5573315"/>
            <a:ext cx="76200" cy="76200"/>
          </a:xfrm>
          <a:prstGeom prst="ellipse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67800" y="5472112"/>
            <a:ext cx="2876550" cy="2786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350">
                <a:solidFill>
                  <a:srgbClr val="000000"/>
                </a:solidFill>
                <a:latin typeface="Segoe UI"/>
              </a:rPr>
              <a:t>Document loaded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53025" y="190500"/>
            <a:ext cx="19812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- A.I. SUMMIT 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0" y="190500"/>
            <a:ext cx="24765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Email Analysis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700087"/>
            <a:ext cx="22479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3600" b="1">
                <a:solidFill>
                  <a:srgbClr val="000000"/>
                </a:solidFill>
                <a:latin typeface="Segoe UI"/>
              </a:rPr>
              <a:t>api_methodes.py - Utilities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6250" y="3767137"/>
            <a:ext cx="11239500" cy="285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mp_slide_0_el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150" y="1862137"/>
            <a:ext cx="1714500" cy="17145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335113" y="3290887"/>
            <a:ext cx="28575" cy="4762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emp_slide_0_el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463" y="3767137"/>
            <a:ext cx="2809875" cy="1000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8676" y="4157662"/>
            <a:ext cx="39814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7500"/>
              </a:lnSpc>
            </a:pPr>
            <a:r>
              <a:rPr sz="1350" b="1">
                <a:solidFill>
                  <a:srgbClr val="0048FF"/>
                </a:solidFill>
                <a:latin typeface="JetBrains Mono"/>
              </a:rPr>
              <a:t>load_document(path)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400" y="4595812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9000"/>
              </a:lnSpc>
            </a:pPr>
            <a:r>
              <a:rPr sz="1500">
                <a:solidFill>
                  <a:srgbClr val="000000"/>
                </a:solidFill>
                <a:latin typeface="Segoe UI"/>
              </a:rPr>
              <a:t>Reads the whole file and returns text.</a:t>
            </a:r>
          </a:p>
        </p:txBody>
      </p:sp>
      <p:pic>
        <p:nvPicPr>
          <p:cNvPr id="12" name="Picture 11" descr="temp_slide_0_el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101" y="1957387"/>
            <a:ext cx="3619500" cy="1257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57651" y="2347912"/>
            <a:ext cx="16764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7500"/>
              </a:lnSpc>
            </a:pPr>
            <a:r>
              <a:rPr sz="1350" b="1">
                <a:solidFill>
                  <a:srgbClr val="0048FF"/>
                </a:solidFill>
                <a:latin typeface="JetBrains Mono"/>
              </a:rPr>
              <a:t>chunk_text(text, chunk_size=500)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851" y="3043237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9000"/>
              </a:lnSpc>
            </a:pPr>
            <a:r>
              <a:rPr sz="1500">
                <a:solidFill>
                  <a:srgbClr val="000000"/>
                </a:solidFill>
                <a:latin typeface="Segoe UI"/>
              </a:rPr>
              <a:t>Splits text into fixed-size sequential chunks.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1563" y="3767137"/>
            <a:ext cx="28575" cy="4762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emp_slide_0_el_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601" y="3957637"/>
            <a:ext cx="1714500" cy="1714500"/>
          </a:xfrm>
          <a:prstGeom prst="rect">
            <a:avLst/>
          </a:prstGeom>
        </p:spPr>
      </p:pic>
      <p:pic>
        <p:nvPicPr>
          <p:cNvPr id="17" name="Picture 16" descr="temp_slide_0_el_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5200" y="1862137"/>
            <a:ext cx="1714500" cy="17145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9828162" y="3290887"/>
            <a:ext cx="28575" cy="4762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emp_slide_0_el_1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450" y="3767137"/>
            <a:ext cx="3810000" cy="12573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75600" y="4157662"/>
            <a:ext cx="29337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7500"/>
              </a:lnSpc>
            </a:pPr>
            <a:r>
              <a:rPr sz="1350" b="1">
                <a:solidFill>
                  <a:srgbClr val="0048FF"/>
                </a:solidFill>
                <a:latin typeface="JetBrains Mono"/>
              </a:rPr>
              <a:t>save_to_dataset(input_email, output_data)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3200" y="4852987"/>
            <a:ext cx="3238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9000"/>
              </a:lnSpc>
            </a:pPr>
            <a:r>
              <a:rPr sz="1500">
                <a:solidFill>
                  <a:srgbClr val="000000"/>
                </a:solidFill>
                <a:latin typeface="Segoe UI"/>
              </a:rPr>
              <a:t>Appends one new record to dataset_telecom.json.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53025" y="190500"/>
            <a:ext cx="19812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- A.I. SUMMIT 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0" y="190500"/>
            <a:ext cx="24765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Email Analysis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700087"/>
            <a:ext cx="22479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3600" b="1">
                <a:solidFill>
                  <a:srgbClr val="000000"/>
                </a:solidFill>
                <a:latin typeface="Segoe UI"/>
              </a:rPr>
              <a:t>Technical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952500" y="4155281"/>
            <a:ext cx="10287000" cy="285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mp_slide_0_el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62" y="2717006"/>
            <a:ext cx="2047875" cy="20478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585912" y="3740943"/>
            <a:ext cx="28575" cy="10953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0075" y="5122068"/>
            <a:ext cx="2000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Retrieval-Augmented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75" y="5636418"/>
            <a:ext cx="200025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500"/>
              </a:lnSpc>
            </a:pPr>
            <a:r>
              <a:rPr sz="1050">
                <a:solidFill>
                  <a:srgbClr val="000000"/>
                </a:solidFill>
                <a:latin typeface="Segoe UI"/>
              </a:rPr>
              <a:t>Retrieve relevant context from dataset to steer output &amp; reduce hallucination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7975" y="2183010"/>
            <a:ext cx="2000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Semantic Embedding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7975" y="2697360"/>
            <a:ext cx="200025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500"/>
              </a:lnSpc>
            </a:pPr>
            <a:r>
              <a:rPr sz="1050">
                <a:solidFill>
                  <a:srgbClr val="000000"/>
                </a:solidFill>
                <a:latin typeface="Segoe UI"/>
              </a:rPr>
              <a:t>all-MiniLM-L6-v2 model converts chunks &amp; query into vectors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33812" y="3502818"/>
            <a:ext cx="28575" cy="10953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emp_slide_0_el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4162" y="3574256"/>
            <a:ext cx="2047875" cy="2047875"/>
          </a:xfrm>
          <a:prstGeom prst="rect">
            <a:avLst/>
          </a:prstGeom>
        </p:spPr>
      </p:pic>
      <p:pic>
        <p:nvPicPr>
          <p:cNvPr id="15" name="Picture 14" descr="temp_slide_0_el_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2" y="2717006"/>
            <a:ext cx="2047875" cy="204787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081712" y="3740943"/>
            <a:ext cx="28575" cy="10953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95875" y="5122068"/>
            <a:ext cx="400050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Vector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5875" y="5398293"/>
            <a:ext cx="200025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500"/>
              </a:lnSpc>
            </a:pPr>
            <a:r>
              <a:rPr sz="1050">
                <a:solidFill>
                  <a:srgbClr val="000000"/>
                </a:solidFill>
                <a:latin typeface="Segoe UI"/>
              </a:rPr>
              <a:t>ChromaDB stores chunks &amp; queries top-k similar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3775" y="2594371"/>
            <a:ext cx="400050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Prompt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3775" y="2870596"/>
            <a:ext cx="200025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500"/>
              </a:lnSpc>
            </a:pPr>
            <a:r>
              <a:rPr sz="1050">
                <a:solidFill>
                  <a:srgbClr val="000000"/>
                </a:solidFill>
                <a:latin typeface="Segoe UI"/>
              </a:rPr>
              <a:t>Strict JSON schema enforces structure &amp; business rules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9612" y="3502818"/>
            <a:ext cx="28575" cy="10953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emp_slide_0_el_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9962" y="3574256"/>
            <a:ext cx="2047875" cy="2047875"/>
          </a:xfrm>
          <a:prstGeom prst="rect">
            <a:avLst/>
          </a:prstGeom>
        </p:spPr>
      </p:pic>
      <p:pic>
        <p:nvPicPr>
          <p:cNvPr id="23" name="Picture 22" descr="temp_slide_0_el_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7862" y="2717006"/>
            <a:ext cx="2047875" cy="2047875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0577512" y="3740943"/>
            <a:ext cx="28575" cy="10953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91675" y="5122068"/>
            <a:ext cx="400050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Post-processing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91675" y="5398293"/>
            <a:ext cx="200025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500"/>
              </a:lnSpc>
            </a:pPr>
            <a:r>
              <a:rPr sz="1050">
                <a:solidFill>
                  <a:srgbClr val="000000"/>
                </a:solidFill>
                <a:latin typeface="Segoe UI"/>
              </a:rPr>
              <a:t>Parse JSON output &amp; persist result for future analysis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53025" y="190500"/>
            <a:ext cx="19812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- A.I. SUMMIT 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0" y="190500"/>
            <a:ext cx="24765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Email Analysis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700087"/>
            <a:ext cx="22479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3600" b="1">
                <a:solidFill>
                  <a:srgbClr val="000000"/>
                </a:solidFill>
                <a:latin typeface="Segoe UI"/>
              </a:rPr>
              <a:t>RAG Pipeline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952500" y="4155281"/>
            <a:ext cx="10287000" cy="285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mp_slide_0_el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62" y="2669381"/>
            <a:ext cx="2047875" cy="20478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585912" y="3693318"/>
            <a:ext cx="28575" cy="12096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0075" y="5217318"/>
            <a:ext cx="2000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Retrieval-Augmented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75" y="5731668"/>
            <a:ext cx="200025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500"/>
              </a:lnSpc>
            </a:pPr>
            <a:r>
              <a:rPr sz="1050">
                <a:solidFill>
                  <a:srgbClr val="000000"/>
                </a:solidFill>
                <a:latin typeface="Segoe UI"/>
              </a:rPr>
              <a:t>Retrieve relevant context from dataset to reduce hallucination &amp; steer output.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7975" y="2087760"/>
            <a:ext cx="2000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Semantic Embedding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7975" y="2602110"/>
            <a:ext cx="200025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500"/>
              </a:lnSpc>
            </a:pPr>
            <a:r>
              <a:rPr sz="1050">
                <a:solidFill>
                  <a:srgbClr val="000000"/>
                </a:solidFill>
                <a:latin typeface="Segoe UI"/>
              </a:rPr>
              <a:t>Model: all-MiniLM-L6-v2. Converts chunks and query into vectors.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33812" y="3436143"/>
            <a:ext cx="28575" cy="12096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emp_slide_0_el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4162" y="3621881"/>
            <a:ext cx="2047875" cy="2047875"/>
          </a:xfrm>
          <a:prstGeom prst="rect">
            <a:avLst/>
          </a:prstGeom>
        </p:spPr>
      </p:pic>
      <p:pic>
        <p:nvPicPr>
          <p:cNvPr id="15" name="Picture 14" descr="temp_slide_0_el_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2" y="2669381"/>
            <a:ext cx="2047875" cy="204787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081712" y="3693318"/>
            <a:ext cx="28575" cy="12096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95875" y="5217318"/>
            <a:ext cx="2000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Vector Search (ChromaDB)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5875" y="5731668"/>
            <a:ext cx="200025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500"/>
              </a:lnSpc>
            </a:pPr>
            <a:r>
              <a:rPr sz="1050">
                <a:solidFill>
                  <a:srgbClr val="000000"/>
                </a:solidFill>
                <a:latin typeface="Segoe UI"/>
              </a:rPr>
              <a:t>Store chunks + embeddings. Query top-k similar chunks (n=5).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3775" y="2325885"/>
            <a:ext cx="400050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Prompt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3775" y="2602110"/>
            <a:ext cx="200025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500"/>
              </a:lnSpc>
            </a:pPr>
            <a:r>
              <a:rPr sz="1050">
                <a:solidFill>
                  <a:srgbClr val="000000"/>
                </a:solidFill>
                <a:latin typeface="Segoe UI"/>
              </a:rPr>
              <a:t>Strict JSON schema. Enforces business rules and allowed keys.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9612" y="3436143"/>
            <a:ext cx="28575" cy="12096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emp_slide_0_el_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9962" y="3621881"/>
            <a:ext cx="2047875" cy="2047875"/>
          </a:xfrm>
          <a:prstGeom prst="rect">
            <a:avLst/>
          </a:prstGeom>
        </p:spPr>
      </p:pic>
      <p:pic>
        <p:nvPicPr>
          <p:cNvPr id="23" name="Picture 22" descr="temp_slide_0_el_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7862" y="2669381"/>
            <a:ext cx="2047875" cy="2047875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0577512" y="3693318"/>
            <a:ext cx="28575" cy="12096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91675" y="5217318"/>
            <a:ext cx="2000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Post-processing &amp; Persistence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91675" y="5731668"/>
            <a:ext cx="200025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500"/>
              </a:lnSpc>
            </a:pPr>
            <a:r>
              <a:rPr sz="1050">
                <a:solidFill>
                  <a:srgbClr val="000000"/>
                </a:solidFill>
                <a:latin typeface="Segoe UI"/>
              </a:rPr>
              <a:t>Parse JSON output &amp; persist results for future analysis.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53025" y="190500"/>
            <a:ext cx="19812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- A.I. SUMMIT 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0" y="190500"/>
            <a:ext cx="24765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Email Analysis API</a:t>
            </a:r>
          </a:p>
        </p:txBody>
      </p:sp>
      <p:pic>
        <p:nvPicPr>
          <p:cNvPr id="5" name="Picture 4" descr="temp_slide_0_el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902493"/>
            <a:ext cx="1524000" cy="152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0" y="1473993"/>
            <a:ext cx="47625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4200" b="1">
                <a:solidFill>
                  <a:srgbClr val="000000"/>
                </a:solidFill>
                <a:latin typeface="Segoe UI"/>
              </a:rPr>
              <a:t>Requirements &amp; Setup</a:t>
            </a:r>
          </a:p>
        </p:txBody>
      </p:sp>
      <p:sp>
        <p:nvSpPr>
          <p:cNvPr id="7" name="Oval 6"/>
          <p:cNvSpPr/>
          <p:nvPr/>
        </p:nvSpPr>
        <p:spPr>
          <a:xfrm>
            <a:off x="666750" y="3283743"/>
            <a:ext cx="476250" cy="476250"/>
          </a:xfrm>
          <a:prstGeom prst="ellipse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mp_icon_slide_0_el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62" y="3407568"/>
            <a:ext cx="200025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33500" y="3321843"/>
            <a:ext cx="49720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Segoe UI"/>
              </a:rPr>
              <a:t>Python 3.10+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3500" y="3664743"/>
            <a:ext cx="49720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350">
                <a:solidFill>
                  <a:srgbClr val="4A5565"/>
                </a:solidFill>
                <a:latin typeface="Segoe UI"/>
              </a:rPr>
              <a:t>Required runtime environment</a:t>
            </a:r>
          </a:p>
        </p:txBody>
      </p:sp>
      <p:sp>
        <p:nvSpPr>
          <p:cNvPr id="11" name="Oval 10"/>
          <p:cNvSpPr/>
          <p:nvPr/>
        </p:nvSpPr>
        <p:spPr>
          <a:xfrm>
            <a:off x="666750" y="4302918"/>
            <a:ext cx="476250" cy="47625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mp_icon_slide_0_el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4436268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33500" y="4341018"/>
            <a:ext cx="4457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Segoe UI"/>
              </a:rPr>
              <a:t>Ollama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683918"/>
            <a:ext cx="44577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350">
                <a:solidFill>
                  <a:srgbClr val="4A5565"/>
                </a:solidFill>
                <a:latin typeface="Segoe UI"/>
              </a:rPr>
              <a:t>Installed and running locally</a:t>
            </a:r>
          </a:p>
        </p:txBody>
      </p:sp>
      <p:sp>
        <p:nvSpPr>
          <p:cNvPr id="15" name="Oval 14"/>
          <p:cNvSpPr/>
          <p:nvPr/>
        </p:nvSpPr>
        <p:spPr>
          <a:xfrm>
            <a:off x="666750" y="5322093"/>
            <a:ext cx="476250" cy="476250"/>
          </a:xfrm>
          <a:prstGeom prst="ellipse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emp_icon_slide_0_el_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5455443"/>
            <a:ext cx="209550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33500" y="5360193"/>
            <a:ext cx="33528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Segoe UI"/>
              </a:rPr>
              <a:t>Pulled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500" y="5722143"/>
            <a:ext cx="2380654" cy="266700"/>
          </a:xfrm>
          <a:prstGeom prst="rect">
            <a:avLst/>
          </a:prstGeom>
          <a:solidFill>
            <a:srgbClr val="F3F4F6"/>
          </a:solidFill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350" b="1">
                <a:solidFill>
                  <a:srgbClr val="0048FF"/>
                </a:solidFill>
                <a:latin typeface="ui-monospace"/>
              </a:rPr>
              <a:t>qwen3:1.7b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33500" y="5988843"/>
            <a:ext cx="1190327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temp_slide_0_el_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0" y="2840831"/>
            <a:ext cx="2952750" cy="2952750"/>
          </a:xfrm>
          <a:prstGeom prst="rect">
            <a:avLst/>
          </a:prstGeom>
        </p:spPr>
      </p:pic>
      <p:pic>
        <p:nvPicPr>
          <p:cNvPr id="21" name="Picture 20" descr="temp_slide_0_el_1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2050256"/>
            <a:ext cx="6096000" cy="29337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010275" y="2345531"/>
            <a:ext cx="5505450" cy="390525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010275" y="2736056"/>
            <a:ext cx="5505450" cy="0"/>
          </a:xfrm>
          <a:prstGeom prst="line">
            <a:avLst/>
          </a:prstGeom>
          <a:ln w="9525">
            <a:solidFill>
              <a:srgbClr val="3641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162675" y="2478881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53175" y="2478881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43675" y="2478881"/>
            <a:ext cx="114300" cy="1143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11954" y="2459831"/>
            <a:ext cx="54864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333"/>
              </a:lnSpc>
            </a:pPr>
            <a:r>
              <a:rPr sz="900">
                <a:solidFill>
                  <a:srgbClr val="6A7282"/>
                </a:solidFill>
                <a:latin typeface="ui-monospace"/>
              </a:rPr>
              <a:t>bash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5075" y="3040856"/>
            <a:ext cx="160734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429"/>
              </a:lnSpc>
            </a:pPr>
            <a:r>
              <a:rPr sz="1050" b="1">
                <a:solidFill>
                  <a:srgbClr val="0048FF"/>
                </a:solidFill>
                <a:latin typeface="ui-monospace"/>
              </a:rPr>
              <a:t>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9742" y="3040856"/>
            <a:ext cx="1026616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429"/>
              </a:lnSpc>
            </a:pPr>
            <a:r>
              <a:rPr sz="1050">
                <a:solidFill>
                  <a:srgbClr val="27C93F"/>
                </a:solidFill>
                <a:latin typeface="ui-monospace"/>
              </a:rPr>
              <a:t>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7350" y="3040856"/>
            <a:ext cx="1466552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429"/>
              </a:lnSpc>
            </a:pPr>
            <a:r>
              <a:rPr sz="1050">
                <a:solidFill>
                  <a:srgbClr val="D1D5DC"/>
                </a:solidFill>
                <a:latin typeface="ui-monospace"/>
              </a:rPr>
              <a:t>git:(main)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5075" y="3383756"/>
            <a:ext cx="48958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500" b="1">
                <a:solidFill>
                  <a:srgbClr val="FDC700"/>
                </a:solidFill>
                <a:latin typeface="ui-monospace"/>
              </a:rPr>
              <a:t>pip</a:t>
            </a:r>
            <a:r>
              <a:rPr sz="1500">
                <a:solidFill>
                  <a:srgbClr val="FFFFFF"/>
                </a:solidFill>
                <a:latin typeface="ui-monospace"/>
              </a:rPr>
              <a:t> install fastapi uvicorn pydantic ollama sentence-transformers chromadb</a:t>
            </a:r>
          </a:p>
        </p:txBody>
      </p:sp>
      <p:pic>
        <p:nvPicPr>
          <p:cNvPr id="32" name="Picture 31" descr="temp_slide_0_el_2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9325" y="3869531"/>
            <a:ext cx="685800" cy="800100"/>
          </a:xfrm>
          <a:prstGeom prst="rect">
            <a:avLst/>
          </a:prstGeom>
        </p:spPr>
      </p:pic>
      <p:pic>
        <p:nvPicPr>
          <p:cNvPr id="33" name="Picture 32" descr="temp_icon_slide_0_el_2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39275" y="4960143"/>
            <a:ext cx="152400" cy="1333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667875" y="4926806"/>
            <a:ext cx="3714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050">
                <a:solidFill>
                  <a:srgbClr val="6A7282"/>
                </a:solidFill>
                <a:latin typeface="Segoe UI"/>
              </a:rPr>
              <a:t>Installation Command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53025" y="190500"/>
            <a:ext cx="19812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- A.I. SUMMIT 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0" y="190500"/>
            <a:ext cx="24765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Email Analysis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476250" y="1938337"/>
            <a:ext cx="38100" cy="3490912"/>
          </a:xfrm>
          <a:prstGeom prst="rect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500" y="1366837"/>
            <a:ext cx="20574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800" b="1">
                <a:solidFill>
                  <a:srgbClr val="000000"/>
                </a:solidFill>
                <a:latin typeface="Segoe UI"/>
              </a:rPr>
              <a:t>Run the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952500" y="2671762"/>
            <a:ext cx="10287000" cy="187166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952500" y="2671762"/>
            <a:ext cx="0" cy="1871662"/>
          </a:xfrm>
          <a:prstGeom prst="line">
            <a:avLst/>
          </a:prstGeom>
          <a:ln w="95250">
            <a:solidFill>
              <a:srgbClr val="004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333500" y="2957512"/>
            <a:ext cx="19240500" cy="1300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2100">
                <a:solidFill>
                  <a:srgbClr val="FFFFFF"/>
                </a:solidFill>
                <a:latin typeface="ui-monospace"/>
              </a:rPr>
              <a:t>python api.py</a:t>
            </a:r>
          </a:p>
          <a:p>
            <a:pPr algn="l">
              <a:lnSpc>
                <a:spcPct val="138125"/>
              </a:lnSpc>
            </a:pPr>
            <a:r>
              <a:rPr sz="2100">
                <a:solidFill>
                  <a:srgbClr val="FFFFFF"/>
                </a:solidFill>
                <a:latin typeface="ui-monospace"/>
              </a:rPr>
              <a:t>--------------------------------or-------------------------------</a:t>
            </a:r>
          </a:p>
          <a:p>
            <a:pPr algn="l">
              <a:lnSpc>
                <a:spcPct val="138125"/>
              </a:lnSpc>
            </a:pPr>
            <a:r>
              <a:rPr sz="2100">
                <a:solidFill>
                  <a:srgbClr val="FFFFFF"/>
                </a:solidFill>
                <a:latin typeface="ui-monospace"/>
              </a:rPr>
              <a:t>uvicorn api:app --host 127.0.0.1 --port 8086 --reload</a:t>
            </a:r>
          </a:p>
        </p:txBody>
      </p:sp>
      <p:sp>
        <p:nvSpPr>
          <p:cNvPr id="10" name="Oval 9"/>
          <p:cNvSpPr/>
          <p:nvPr/>
        </p:nvSpPr>
        <p:spPr>
          <a:xfrm>
            <a:off x="10601325" y="2814637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91825" y="2814637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82325" y="2814637"/>
            <a:ext cx="114300" cy="1143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2500" y="5000625"/>
            <a:ext cx="571500" cy="571500"/>
          </a:xfrm>
          <a:prstGeom prst="ellipse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emp_icon_slide_0_el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5172075"/>
            <a:ext cx="228600" cy="228600"/>
          </a:xfrm>
          <a:prstGeom prst="rect">
            <a:avLst/>
          </a:prstGeom>
        </p:spPr>
      </p:pic>
      <p:pic>
        <p:nvPicPr>
          <p:cNvPr id="15" name="Picture 14" descr="temp_slide_0_el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900" y="4810125"/>
            <a:ext cx="3552825" cy="952500"/>
          </a:xfrm>
          <a:prstGeom prst="rect">
            <a:avLst/>
          </a:prstGeom>
        </p:spPr>
      </p:pic>
      <p:pic>
        <p:nvPicPr>
          <p:cNvPr id="16" name="Picture 15" descr="temp_slide_0_el_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2762250"/>
            <a:ext cx="4095750" cy="5334000"/>
          </a:xfrm>
          <a:prstGeom prst="rect">
            <a:avLst/>
          </a:prstGeom>
        </p:spPr>
      </p:pic>
      <p:pic>
        <p:nvPicPr>
          <p:cNvPr id="17" name="Picture 16" descr="temp_slide_0_el_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238500"/>
            <a:ext cx="3619500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53025" y="190500"/>
            <a:ext cx="19812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- A.I. SUMMIT 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0" y="190500"/>
            <a:ext cx="24765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Email Analysis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90587"/>
            <a:ext cx="1066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200" b="1">
                <a:solidFill>
                  <a:srgbClr val="000000"/>
                </a:solidFill>
                <a:latin typeface="Segoe UI"/>
              </a:rPr>
              <a:t>API Usage Examples</a:t>
            </a:r>
          </a:p>
        </p:txBody>
      </p:sp>
      <p:pic>
        <p:nvPicPr>
          <p:cNvPr id="6" name="Picture 5" descr="temp_slide_0_el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1252537"/>
            <a:ext cx="5181600" cy="76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90625" y="2043112"/>
            <a:ext cx="19050" cy="35147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mp_slide_0_el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519237"/>
            <a:ext cx="1047750" cy="1047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14500" y="1804987"/>
            <a:ext cx="19431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Initialize</a:t>
            </a:r>
          </a:p>
        </p:txBody>
      </p:sp>
      <p:pic>
        <p:nvPicPr>
          <p:cNvPr id="10" name="Picture 9" descr="temp_slide_0_el_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" y="1881187"/>
            <a:ext cx="10287000" cy="1181100"/>
          </a:xfrm>
          <a:prstGeom prst="rect">
            <a:avLst/>
          </a:prstGeom>
        </p:spPr>
      </p:pic>
      <p:pic>
        <p:nvPicPr>
          <p:cNvPr id="11" name="Picture 10" descr="temp_slide_0_el_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6600" y="2262187"/>
            <a:ext cx="438150" cy="133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62150" y="2357437"/>
            <a:ext cx="185547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200">
                <a:solidFill>
                  <a:srgbClr val="FFFFFF"/>
                </a:solidFill>
                <a:latin typeface="ui-monospace"/>
              </a:rPr>
              <a:t>curl -X POST http://127.0.0.1:8086/initialize</a:t>
            </a:r>
          </a:p>
        </p:txBody>
      </p:sp>
      <p:pic>
        <p:nvPicPr>
          <p:cNvPr id="13" name="Picture 12" descr="temp_slide_0_el_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2728912"/>
            <a:ext cx="1047750" cy="10477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14500" y="3014662"/>
            <a:ext cx="19431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Query one email</a:t>
            </a:r>
          </a:p>
        </p:txBody>
      </p:sp>
      <p:pic>
        <p:nvPicPr>
          <p:cNvPr id="15" name="Picture 14" descr="temp_slide_0_el_1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8750" y="3090862"/>
            <a:ext cx="10287000" cy="1695450"/>
          </a:xfrm>
          <a:prstGeom prst="rect">
            <a:avLst/>
          </a:prstGeom>
        </p:spPr>
      </p:pic>
      <p:pic>
        <p:nvPicPr>
          <p:cNvPr id="16" name="Picture 15" descr="temp_slide_0_el_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6600" y="3471862"/>
            <a:ext cx="438150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962150" y="3567112"/>
            <a:ext cx="1855470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200">
                <a:solidFill>
                  <a:srgbClr val="FFFFFF"/>
                </a:solidFill>
                <a:latin typeface="ui-monospace"/>
              </a:rPr>
              <a:t>curl -X POST http://127.0.0.1:8086/query \</a:t>
            </a:r>
          </a:p>
          <a:p>
            <a:pPr algn="l">
              <a:lnSpc>
                <a:spcPct val="138125"/>
              </a:lnSpc>
            </a:pPr>
            <a:r>
              <a:rPr sz="1200">
                <a:solidFill>
                  <a:srgbClr val="FFFFFF"/>
                </a:solidFill>
                <a:latin typeface="ui-monospace"/>
              </a:rPr>
              <a:t> </a:t>
            </a:r>
            <a:r>
              <a:rPr sz="1200">
                <a:solidFill>
                  <a:srgbClr val="FFFFFF"/>
                </a:solidFill>
                <a:latin typeface="ui-monospace"/>
              </a:rPr>
              <a:t>-H "Content-Type: application/json" \</a:t>
            </a:r>
          </a:p>
          <a:p>
            <a:pPr algn="l">
              <a:lnSpc>
                <a:spcPct val="138125"/>
              </a:lnSpc>
            </a:pPr>
            <a:r>
              <a:rPr sz="1200">
                <a:solidFill>
                  <a:srgbClr val="FFFFFF"/>
                </a:solidFill>
                <a:latin typeface="ui-monospace"/>
              </a:rPr>
              <a:t> </a:t>
            </a:r>
            <a:r>
              <a:rPr sz="1200">
                <a:solidFill>
                  <a:srgbClr val="FFFFFF"/>
                </a:solidFill>
                <a:latin typeface="ui-monospace"/>
              </a:rPr>
              <a:t>-d "{\"email_file\":\"emails_output/email_9599.txt\"}"</a:t>
            </a:r>
          </a:p>
        </p:txBody>
      </p:sp>
      <p:pic>
        <p:nvPicPr>
          <p:cNvPr id="18" name="Picture 17" descr="temp_slide_0_el_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" y="4452937"/>
            <a:ext cx="1047750" cy="10477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714500" y="4738687"/>
            <a:ext cx="19431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Check service</a:t>
            </a:r>
          </a:p>
        </p:txBody>
      </p:sp>
      <p:pic>
        <p:nvPicPr>
          <p:cNvPr id="20" name="Picture 19" descr="temp_slide_0_el_1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8750" y="4814887"/>
            <a:ext cx="10287000" cy="1409700"/>
          </a:xfrm>
          <a:prstGeom prst="rect">
            <a:avLst/>
          </a:prstGeom>
        </p:spPr>
      </p:pic>
      <p:pic>
        <p:nvPicPr>
          <p:cNvPr id="21" name="Picture 20" descr="temp_slide_0_el_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6600" y="5195887"/>
            <a:ext cx="438150" cy="1333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962150" y="5291137"/>
            <a:ext cx="185547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200">
                <a:solidFill>
                  <a:srgbClr val="FFFFFF"/>
                </a:solidFill>
                <a:latin typeface="ui-monospace"/>
              </a:rPr>
              <a:t>curl http://127.0.0.1:8086/health</a:t>
            </a:r>
          </a:p>
          <a:p>
            <a:pPr algn="l">
              <a:lnSpc>
                <a:spcPct val="127500"/>
              </a:lnSpc>
            </a:pPr>
            <a:r>
              <a:rPr sz="1200">
                <a:solidFill>
                  <a:srgbClr val="FFFFFF"/>
                </a:solidFill>
                <a:latin typeface="ui-monospace"/>
              </a:rPr>
              <a:t> curl http://127.0.0.1:8086/status</a:t>
            </a:r>
          </a:p>
        </p:txBody>
      </p:sp>
      <p:pic>
        <p:nvPicPr>
          <p:cNvPr id="23" name="Picture 22" descr="temp_slide_0_el_2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00" y="666750"/>
            <a:ext cx="2667000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53025" y="190500"/>
            <a:ext cx="19812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- A.I. SUMMIT 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0" y="190500"/>
            <a:ext cx="24765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Email Analysis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700087"/>
            <a:ext cx="22479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3600" b="1">
                <a:solidFill>
                  <a:srgbClr val="000000"/>
                </a:solidFill>
                <a:latin typeface="Segoe UI"/>
              </a:rPr>
              <a:t>Quick End-to-End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952500" y="4155281"/>
            <a:ext cx="10287000" cy="285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mp_slide_0_el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62" y="2669381"/>
            <a:ext cx="2047875" cy="20478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585912" y="3693318"/>
            <a:ext cx="28575" cy="12096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0075" y="5217318"/>
            <a:ext cx="2000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Start Ollama and pull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7975" y="2845593"/>
            <a:ext cx="400050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Start API.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33812" y="3436143"/>
            <a:ext cx="28575" cy="12096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mp_slide_0_el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4162" y="3621881"/>
            <a:ext cx="2047875" cy="2047875"/>
          </a:xfrm>
          <a:prstGeom prst="rect">
            <a:avLst/>
          </a:prstGeom>
        </p:spPr>
      </p:pic>
      <p:pic>
        <p:nvPicPr>
          <p:cNvPr id="13" name="Picture 12" descr="temp_slide_0_el_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2" y="2669381"/>
            <a:ext cx="2047875" cy="204787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081712" y="3693318"/>
            <a:ext cx="28575" cy="12096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5875" y="5217318"/>
            <a:ext cx="2000250" cy="500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Call </a:t>
            </a:r>
            <a:r>
              <a:rPr sz="1350" b="1">
                <a:solidFill>
                  <a:srgbClr val="000000"/>
                </a:solidFill>
                <a:latin typeface="ui-monospace"/>
              </a:rPr>
              <a:t>/initialize</a:t>
            </a:r>
            <a:r>
              <a:rPr sz="1500" b="1">
                <a:solidFill>
                  <a:srgbClr val="000000"/>
                </a:solidFill>
                <a:latin typeface="Segoe UI"/>
              </a:rPr>
              <a:t> once.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3775" y="2583656"/>
            <a:ext cx="2000250" cy="500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Call </a:t>
            </a:r>
            <a:r>
              <a:rPr sz="1350" b="1">
                <a:solidFill>
                  <a:srgbClr val="000000"/>
                </a:solidFill>
                <a:latin typeface="ui-monospace"/>
              </a:rPr>
              <a:t>/query</a:t>
            </a:r>
            <a:r>
              <a:rPr sz="1500" b="1">
                <a:solidFill>
                  <a:srgbClr val="000000"/>
                </a:solidFill>
                <a:latin typeface="Segoe UI"/>
              </a:rPr>
              <a:t> with an email file path.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9612" y="3436143"/>
            <a:ext cx="28575" cy="12096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emp_slide_0_el_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9962" y="3621881"/>
            <a:ext cx="2047875" cy="2047875"/>
          </a:xfrm>
          <a:prstGeom prst="rect">
            <a:avLst/>
          </a:prstGeom>
        </p:spPr>
      </p:pic>
      <p:pic>
        <p:nvPicPr>
          <p:cNvPr id="19" name="Picture 18" descr="temp_slide_0_el_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7862" y="2669381"/>
            <a:ext cx="2047875" cy="204787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0577512" y="3693318"/>
            <a:ext cx="28575" cy="12096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91675" y="5217318"/>
            <a:ext cx="2000250" cy="1214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Output JSON is returned and appended to </a:t>
            </a:r>
            <a:r>
              <a:rPr sz="1350" b="1">
                <a:solidFill>
                  <a:srgbClr val="000000"/>
                </a:solidFill>
                <a:latin typeface="ui-monospace"/>
              </a:rPr>
              <a:t>dataset_telecom.json</a:t>
            </a:r>
            <a:r>
              <a:rPr sz="1500" b="1">
                <a:solidFill>
                  <a:srgbClr val="000000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8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_slide_0_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3524250"/>
            <a:ext cx="4191000" cy="4191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FFFFFF"/>
                </a:solidFill>
                <a:latin typeface="Segoe UI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43475" y="190500"/>
            <a:ext cx="28194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FFFFFF"/>
                </a:solidFill>
                <a:latin typeface="Segoe UI"/>
              </a:rPr>
              <a:t>- Email Analysis API 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500" y="190500"/>
            <a:ext cx="24765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FFFFFF"/>
                </a:solidFill>
                <a:latin typeface="Segoe UI"/>
              </a:rPr>
              <a:t>Email Analysis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09862" y="2083593"/>
            <a:ext cx="135445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90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7250" y="3607593"/>
            <a:ext cx="2857500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2823" y="3921918"/>
            <a:ext cx="641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2400">
                <a:solidFill>
                  <a:srgbClr val="FFFFFF"/>
                </a:solidFill>
                <a:latin typeface="Segoe UI"/>
              </a:rPr>
              <a:t>Email Analysis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55368"/>
            <a:ext cx="112776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75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Repository:</a:t>
            </a:r>
            <a:r>
              <a:rPr sz="1500">
                <a:solidFill>
                  <a:srgbClr val="FFFFFF"/>
                </a:solidFill>
                <a:latin typeface="Segoe UI"/>
              </a:rPr>
              <a:t> https://github.com/T0nY-IV/Email_Analysis_Project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dokie</dc:creator>
  <cp:keywords/>
  <dc:description>generated using python-pptx</dc:description>
  <cp:lastModifiedBy>dokie</cp:lastModifiedBy>
  <cp:revision>1</cp:revision>
  <dcterms:created xsi:type="dcterms:W3CDTF">2026-03-04T19:03:00Z</dcterms:created>
  <dcterms:modified xsi:type="dcterms:W3CDTF">2026-03-04T19:03:00Z</dcterms:modified>
  <cp:category/>
</cp:coreProperties>
</file>